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Gill Sans"/>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CB3584-8DF5-4022-BB7F-37097C52D407}">
  <a:tblStyle styleId="{7CCB3584-8DF5-4022-BB7F-37097C52D407}"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7E9"/>
          </a:solidFill>
        </a:fill>
      </a:tcStyle>
    </a:wholeTbl>
    <a:band1H>
      <a:tcTxStyle/>
      <a:tcStyle>
        <a:fill>
          <a:solidFill>
            <a:srgbClr val="CBCCD1"/>
          </a:solidFill>
        </a:fill>
      </a:tcStyle>
    </a:band1H>
    <a:band2H>
      <a:tcTxStyle/>
    </a:band2H>
    <a:band1V>
      <a:tcTxStyle/>
      <a:tcStyle>
        <a:fill>
          <a:solidFill>
            <a:srgbClr val="CBCCD1"/>
          </a:solidFill>
        </a:fill>
      </a:tcStyle>
    </a:band1V>
    <a:band2V>
      <a:tcTxStyle/>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illSans-bold.fntdata"/><Relationship Id="rId25" Type="http://schemas.openxmlformats.org/officeDocument/2006/relationships/font" Target="fonts/GillSans-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22" name="Google Shape;22;p2"/>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2D58AC"/>
                </a:solidFill>
                <a:latin typeface="Gill Sans"/>
                <a:ea typeface="Gill Sans"/>
                <a:cs typeface="Gill Sans"/>
                <a:sym typeface="Gill Sans"/>
              </a:defRPr>
            </a:lvl1pPr>
            <a:lvl2pPr indent="0" lvl="1" marL="0" algn="r">
              <a:spcBef>
                <a:spcPts val="0"/>
              </a:spcBef>
              <a:buNone/>
              <a:defRPr b="0" i="0" sz="900" u="none" cap="none" strike="noStrike">
                <a:solidFill>
                  <a:srgbClr val="2D58AC"/>
                </a:solidFill>
                <a:latin typeface="Gill Sans"/>
                <a:ea typeface="Gill Sans"/>
                <a:cs typeface="Gill Sans"/>
                <a:sym typeface="Gill Sans"/>
              </a:defRPr>
            </a:lvl2pPr>
            <a:lvl3pPr indent="0" lvl="2" marL="0" algn="r">
              <a:spcBef>
                <a:spcPts val="0"/>
              </a:spcBef>
              <a:buNone/>
              <a:defRPr b="0" i="0" sz="900" u="none" cap="none" strike="noStrike">
                <a:solidFill>
                  <a:srgbClr val="2D58AC"/>
                </a:solidFill>
                <a:latin typeface="Gill Sans"/>
                <a:ea typeface="Gill Sans"/>
                <a:cs typeface="Gill Sans"/>
                <a:sym typeface="Gill Sans"/>
              </a:defRPr>
            </a:lvl3pPr>
            <a:lvl4pPr indent="0" lvl="3" marL="0" algn="r">
              <a:spcBef>
                <a:spcPts val="0"/>
              </a:spcBef>
              <a:buNone/>
              <a:defRPr b="0" i="0" sz="900" u="none" cap="none" strike="noStrike">
                <a:solidFill>
                  <a:srgbClr val="2D58AC"/>
                </a:solidFill>
                <a:latin typeface="Gill Sans"/>
                <a:ea typeface="Gill Sans"/>
                <a:cs typeface="Gill Sans"/>
                <a:sym typeface="Gill Sans"/>
              </a:defRPr>
            </a:lvl4pPr>
            <a:lvl5pPr indent="0" lvl="4" marL="0" algn="r">
              <a:spcBef>
                <a:spcPts val="0"/>
              </a:spcBef>
              <a:buNone/>
              <a:defRPr b="0" i="0" sz="900" u="none" cap="none" strike="noStrike">
                <a:solidFill>
                  <a:srgbClr val="2D58AC"/>
                </a:solidFill>
                <a:latin typeface="Gill Sans"/>
                <a:ea typeface="Gill Sans"/>
                <a:cs typeface="Gill Sans"/>
                <a:sym typeface="Gill Sans"/>
              </a:defRPr>
            </a:lvl5pPr>
            <a:lvl6pPr indent="0" lvl="5" marL="0" algn="r">
              <a:spcBef>
                <a:spcPts val="0"/>
              </a:spcBef>
              <a:buNone/>
              <a:defRPr b="0" i="0" sz="900" u="none" cap="none" strike="noStrike">
                <a:solidFill>
                  <a:srgbClr val="2D58AC"/>
                </a:solidFill>
                <a:latin typeface="Gill Sans"/>
                <a:ea typeface="Gill Sans"/>
                <a:cs typeface="Gill Sans"/>
                <a:sym typeface="Gill Sans"/>
              </a:defRPr>
            </a:lvl6pPr>
            <a:lvl7pPr indent="0" lvl="6" marL="0" algn="r">
              <a:spcBef>
                <a:spcPts val="0"/>
              </a:spcBef>
              <a:buNone/>
              <a:defRPr b="0" i="0" sz="900" u="none" cap="none" strike="noStrike">
                <a:solidFill>
                  <a:srgbClr val="2D58AC"/>
                </a:solidFill>
                <a:latin typeface="Gill Sans"/>
                <a:ea typeface="Gill Sans"/>
                <a:cs typeface="Gill Sans"/>
                <a:sym typeface="Gill Sans"/>
              </a:defRPr>
            </a:lvl7pPr>
            <a:lvl8pPr indent="0" lvl="7" marL="0" algn="r">
              <a:spcBef>
                <a:spcPts val="0"/>
              </a:spcBef>
              <a:buNone/>
              <a:defRPr b="0" i="0" sz="900" u="none" cap="none" strike="noStrike">
                <a:solidFill>
                  <a:srgbClr val="2D58AC"/>
                </a:solidFill>
                <a:latin typeface="Gill Sans"/>
                <a:ea typeface="Gill Sans"/>
                <a:cs typeface="Gill Sans"/>
                <a:sym typeface="Gill Sans"/>
              </a:defRPr>
            </a:lvl8pPr>
            <a:lvl9pPr indent="0" lvl="8" marL="0" algn="r">
              <a:spcBef>
                <a:spcPts val="0"/>
              </a:spcBef>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9" name="Google Shape;29;p3"/>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2" type="sldNum"/>
          </p:nvPr>
        </p:nvSpPr>
        <p:spPr>
          <a:xfrm>
            <a:off x="10558300" y="5956137"/>
            <a:ext cx="105250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4"/>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Gill Sans"/>
              <a:buNone/>
              <a:defRPr b="0" sz="360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656"/>
              <a:buNone/>
              <a:defRPr sz="1800" cap="none">
                <a:solidFill>
                  <a:schemeClr val="accent2"/>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36" name="Google Shape;36;p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900">
                <a:solidFill>
                  <a:srgbClr val="2D58AC"/>
                </a:solidFill>
                <a:latin typeface="Gill Sans"/>
                <a:ea typeface="Gill Sans"/>
                <a:cs typeface="Gill Sans"/>
                <a:sym typeface="Gill Sans"/>
              </a:defRPr>
            </a:lvl1pPr>
            <a:lvl2pPr indent="0" lvl="1" marL="0" algn="r">
              <a:spcBef>
                <a:spcPts val="0"/>
              </a:spcBef>
              <a:buNone/>
              <a:defRPr sz="900">
                <a:solidFill>
                  <a:srgbClr val="2D58AC"/>
                </a:solidFill>
                <a:latin typeface="Gill Sans"/>
                <a:ea typeface="Gill Sans"/>
                <a:cs typeface="Gill Sans"/>
                <a:sym typeface="Gill Sans"/>
              </a:defRPr>
            </a:lvl2pPr>
            <a:lvl3pPr indent="0" lvl="2" marL="0" algn="r">
              <a:spcBef>
                <a:spcPts val="0"/>
              </a:spcBef>
              <a:buNone/>
              <a:defRPr sz="900">
                <a:solidFill>
                  <a:srgbClr val="2D58AC"/>
                </a:solidFill>
                <a:latin typeface="Gill Sans"/>
                <a:ea typeface="Gill Sans"/>
                <a:cs typeface="Gill Sans"/>
                <a:sym typeface="Gill Sans"/>
              </a:defRPr>
            </a:lvl3pPr>
            <a:lvl4pPr indent="0" lvl="3" marL="0" algn="r">
              <a:spcBef>
                <a:spcPts val="0"/>
              </a:spcBef>
              <a:buNone/>
              <a:defRPr sz="900">
                <a:solidFill>
                  <a:srgbClr val="2D58AC"/>
                </a:solidFill>
                <a:latin typeface="Gill Sans"/>
                <a:ea typeface="Gill Sans"/>
                <a:cs typeface="Gill Sans"/>
                <a:sym typeface="Gill Sans"/>
              </a:defRPr>
            </a:lvl4pPr>
            <a:lvl5pPr indent="0" lvl="4" marL="0" algn="r">
              <a:spcBef>
                <a:spcPts val="0"/>
              </a:spcBef>
              <a:buNone/>
              <a:defRPr sz="900">
                <a:solidFill>
                  <a:srgbClr val="2D58AC"/>
                </a:solidFill>
                <a:latin typeface="Gill Sans"/>
                <a:ea typeface="Gill Sans"/>
                <a:cs typeface="Gill Sans"/>
                <a:sym typeface="Gill Sans"/>
              </a:defRPr>
            </a:lvl5pPr>
            <a:lvl6pPr indent="0" lvl="5" marL="0" algn="r">
              <a:spcBef>
                <a:spcPts val="0"/>
              </a:spcBef>
              <a:buNone/>
              <a:defRPr sz="900">
                <a:solidFill>
                  <a:srgbClr val="2D58AC"/>
                </a:solidFill>
                <a:latin typeface="Gill Sans"/>
                <a:ea typeface="Gill Sans"/>
                <a:cs typeface="Gill Sans"/>
                <a:sym typeface="Gill Sans"/>
              </a:defRPr>
            </a:lvl6pPr>
            <a:lvl7pPr indent="0" lvl="6" marL="0" algn="r">
              <a:spcBef>
                <a:spcPts val="0"/>
              </a:spcBef>
              <a:buNone/>
              <a:defRPr sz="900">
                <a:solidFill>
                  <a:srgbClr val="2D58AC"/>
                </a:solidFill>
                <a:latin typeface="Gill Sans"/>
                <a:ea typeface="Gill Sans"/>
                <a:cs typeface="Gill Sans"/>
                <a:sym typeface="Gill Sans"/>
              </a:defRPr>
            </a:lvl7pPr>
            <a:lvl8pPr indent="0" lvl="7" marL="0" algn="r">
              <a:spcBef>
                <a:spcPts val="0"/>
              </a:spcBef>
              <a:buNone/>
              <a:defRPr sz="900">
                <a:solidFill>
                  <a:srgbClr val="2D58AC"/>
                </a:solidFill>
                <a:latin typeface="Gill Sans"/>
                <a:ea typeface="Gill Sans"/>
                <a:cs typeface="Gill Sans"/>
                <a:sym typeface="Gill Sans"/>
              </a:defRPr>
            </a:lvl8pPr>
            <a:lvl9pPr indent="0" lvl="8" marL="0" algn="r">
              <a:spcBef>
                <a:spcPts val="0"/>
              </a:spcBef>
              <a:buNone/>
              <a:defRPr sz="900">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5"/>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3" name="Google Shape;43;p5"/>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4" name="Google Shape;44;p5"/>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6"/>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spcBef>
                <a:spcPts val="440"/>
              </a:spcBef>
              <a:spcAft>
                <a:spcPts val="0"/>
              </a:spcAft>
              <a:buSzPts val="2024"/>
              <a:buNone/>
              <a:defRPr b="0" sz="2200">
                <a:solidFill>
                  <a:schemeClr val="accent2"/>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1" name="Google Shape;51;p6"/>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2" name="Google Shape;52;p6"/>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spcBef>
                <a:spcPts val="440"/>
              </a:spcBef>
              <a:spcAft>
                <a:spcPts val="0"/>
              </a:spcAft>
              <a:buSzPts val="2024"/>
              <a:buNone/>
              <a:defRPr b="0" sz="2200">
                <a:solidFill>
                  <a:schemeClr val="accent2"/>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3" name="Google Shape;53;p6"/>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4" name="Google Shape;54;p6"/>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1" name="Google Shape;61;p7"/>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7"/>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3" name="Shape 63"/>
        <p:cNvGrpSpPr/>
        <p:nvPr/>
      </p:nvGrpSpPr>
      <p:grpSpPr>
        <a:xfrm>
          <a:off x="0" y="0"/>
          <a:ext cx="0" cy="0"/>
          <a:chOff x="0" y="0"/>
          <a:chExt cx="0" cy="0"/>
        </a:xfrm>
      </p:grpSpPr>
      <p:sp>
        <p:nvSpPr>
          <p:cNvPr id="64" name="Google Shape;64;p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9"/>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9"/>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D58AC"/>
              </a:buClr>
              <a:buSzPts val="2000"/>
              <a:buFont typeface="Gill Sans"/>
              <a:buNone/>
              <a:defRPr b="0" sz="200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71" name="Google Shape;71;p9"/>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spcBef>
                <a:spcPts val="220"/>
              </a:spcBef>
              <a:spcAft>
                <a:spcPts val="0"/>
              </a:spcAft>
              <a:buSzPts val="1012"/>
              <a:buNone/>
              <a:defRPr sz="1100">
                <a:solidFill>
                  <a:schemeClr val="lt1"/>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2" name="Google Shape;72;p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900">
                <a:solidFill>
                  <a:srgbClr val="2D58AC"/>
                </a:solidFill>
                <a:latin typeface="Gill Sans"/>
                <a:ea typeface="Gill Sans"/>
                <a:cs typeface="Gill Sans"/>
                <a:sym typeface="Gill Sans"/>
              </a:defRPr>
            </a:lvl1pPr>
            <a:lvl2pPr indent="0" lvl="1" marL="0" algn="r">
              <a:spcBef>
                <a:spcPts val="0"/>
              </a:spcBef>
              <a:buNone/>
              <a:defRPr sz="900">
                <a:solidFill>
                  <a:srgbClr val="2D58AC"/>
                </a:solidFill>
                <a:latin typeface="Gill Sans"/>
                <a:ea typeface="Gill Sans"/>
                <a:cs typeface="Gill Sans"/>
                <a:sym typeface="Gill Sans"/>
              </a:defRPr>
            </a:lvl2pPr>
            <a:lvl3pPr indent="0" lvl="2" marL="0" algn="r">
              <a:spcBef>
                <a:spcPts val="0"/>
              </a:spcBef>
              <a:buNone/>
              <a:defRPr sz="900">
                <a:solidFill>
                  <a:srgbClr val="2D58AC"/>
                </a:solidFill>
                <a:latin typeface="Gill Sans"/>
                <a:ea typeface="Gill Sans"/>
                <a:cs typeface="Gill Sans"/>
                <a:sym typeface="Gill Sans"/>
              </a:defRPr>
            </a:lvl3pPr>
            <a:lvl4pPr indent="0" lvl="3" marL="0" algn="r">
              <a:spcBef>
                <a:spcPts val="0"/>
              </a:spcBef>
              <a:buNone/>
              <a:defRPr sz="900">
                <a:solidFill>
                  <a:srgbClr val="2D58AC"/>
                </a:solidFill>
                <a:latin typeface="Gill Sans"/>
                <a:ea typeface="Gill Sans"/>
                <a:cs typeface="Gill Sans"/>
                <a:sym typeface="Gill Sans"/>
              </a:defRPr>
            </a:lvl4pPr>
            <a:lvl5pPr indent="0" lvl="4" marL="0" algn="r">
              <a:spcBef>
                <a:spcPts val="0"/>
              </a:spcBef>
              <a:buNone/>
              <a:defRPr sz="900">
                <a:solidFill>
                  <a:srgbClr val="2D58AC"/>
                </a:solidFill>
                <a:latin typeface="Gill Sans"/>
                <a:ea typeface="Gill Sans"/>
                <a:cs typeface="Gill Sans"/>
                <a:sym typeface="Gill Sans"/>
              </a:defRPr>
            </a:lvl5pPr>
            <a:lvl6pPr indent="0" lvl="5" marL="0" algn="r">
              <a:spcBef>
                <a:spcPts val="0"/>
              </a:spcBef>
              <a:buNone/>
              <a:defRPr sz="900">
                <a:solidFill>
                  <a:srgbClr val="2D58AC"/>
                </a:solidFill>
                <a:latin typeface="Gill Sans"/>
                <a:ea typeface="Gill Sans"/>
                <a:cs typeface="Gill Sans"/>
                <a:sym typeface="Gill Sans"/>
              </a:defRPr>
            </a:lvl6pPr>
            <a:lvl7pPr indent="0" lvl="6" marL="0" algn="r">
              <a:spcBef>
                <a:spcPts val="0"/>
              </a:spcBef>
              <a:buNone/>
              <a:defRPr sz="900">
                <a:solidFill>
                  <a:srgbClr val="2D58AC"/>
                </a:solidFill>
                <a:latin typeface="Gill Sans"/>
                <a:ea typeface="Gill Sans"/>
                <a:cs typeface="Gill Sans"/>
                <a:sym typeface="Gill Sans"/>
              </a:defRPr>
            </a:lvl7pPr>
            <a:lvl8pPr indent="0" lvl="7" marL="0" algn="r">
              <a:spcBef>
                <a:spcPts val="0"/>
              </a:spcBef>
              <a:buNone/>
              <a:defRPr sz="900">
                <a:solidFill>
                  <a:srgbClr val="2D58AC"/>
                </a:solidFill>
                <a:latin typeface="Gill Sans"/>
                <a:ea typeface="Gill Sans"/>
                <a:cs typeface="Gill Sans"/>
                <a:sym typeface="Gill Sans"/>
              </a:defRPr>
            </a:lvl8pPr>
            <a:lvl9pPr indent="0" lvl="8" marL="0" algn="r">
              <a:spcBef>
                <a:spcPts val="0"/>
              </a:spcBef>
              <a:buNone/>
              <a:defRPr sz="900">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Gill Sans"/>
              <a:buNone/>
              <a:defRPr b="0" sz="2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p:nvPr>
            <p:ph idx="2" type="pic"/>
          </p:nvPr>
        </p:nvSpPr>
        <p:spPr>
          <a:xfrm>
            <a:off x="447817" y="599725"/>
            <a:ext cx="11290859" cy="3557252"/>
          </a:xfrm>
          <a:prstGeom prst="rect">
            <a:avLst/>
          </a:prstGeom>
          <a:noFill/>
          <a:ln>
            <a:noFill/>
          </a:ln>
        </p:spPr>
      </p:sp>
      <p:sp>
        <p:nvSpPr>
          <p:cNvPr id="78" name="Google Shape;78;p10"/>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spcBef>
                <a:spcPts val="240"/>
              </a:spcBef>
              <a:spcAft>
                <a:spcPts val="0"/>
              </a:spcAft>
              <a:buSzPts val="1104"/>
              <a:buNone/>
              <a:defRPr sz="12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9" name="Google Shape;79;p1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11"/>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22072" lvl="1" marL="914400" algn="l">
              <a:spcBef>
                <a:spcPts val="600"/>
              </a:spcBef>
              <a:spcAft>
                <a:spcPts val="0"/>
              </a:spcAft>
              <a:buSzPts val="1472"/>
              <a:buChar char="◼"/>
              <a:defRPr/>
            </a:lvl2pPr>
            <a:lvl3pPr indent="-310388" lvl="2" marL="1371600" algn="l">
              <a:spcBef>
                <a:spcPts val="600"/>
              </a:spcBef>
              <a:spcAft>
                <a:spcPts val="0"/>
              </a:spcAft>
              <a:buSzPts val="1288"/>
              <a:buChar char="◼"/>
              <a:defRPr/>
            </a:lvl3pPr>
            <a:lvl4pPr indent="-298703" lvl="3" marL="1828800" algn="l">
              <a:spcBef>
                <a:spcPts val="600"/>
              </a:spcBef>
              <a:spcAft>
                <a:spcPts val="0"/>
              </a:spcAft>
              <a:buSzPts val="1104"/>
              <a:buChar char="◼"/>
              <a:defRPr/>
            </a:lvl4pPr>
            <a:lvl5pPr indent="-298704" lvl="4" marL="2286000" algn="l">
              <a:spcBef>
                <a:spcPts val="600"/>
              </a:spcBef>
              <a:spcAft>
                <a:spcPts val="0"/>
              </a:spcAft>
              <a:buSzPts val="1104"/>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6" name="Google Shape;86;p1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12"/>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2"/>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93" name="Google Shape;93;p12"/>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2"/>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900">
                <a:solidFill>
                  <a:srgbClr val="2D58AC"/>
                </a:solidFill>
                <a:latin typeface="Gill Sans"/>
                <a:ea typeface="Gill Sans"/>
                <a:cs typeface="Gill Sans"/>
                <a:sym typeface="Gill Sans"/>
              </a:defRPr>
            </a:lvl1pPr>
            <a:lvl2pPr indent="0" lvl="1" marL="0" algn="r">
              <a:spcBef>
                <a:spcPts val="0"/>
              </a:spcBef>
              <a:buNone/>
              <a:defRPr sz="900">
                <a:solidFill>
                  <a:srgbClr val="2D58AC"/>
                </a:solidFill>
                <a:latin typeface="Gill Sans"/>
                <a:ea typeface="Gill Sans"/>
                <a:cs typeface="Gill Sans"/>
                <a:sym typeface="Gill Sans"/>
              </a:defRPr>
            </a:lvl2pPr>
            <a:lvl3pPr indent="0" lvl="2" marL="0" algn="r">
              <a:spcBef>
                <a:spcPts val="0"/>
              </a:spcBef>
              <a:buNone/>
              <a:defRPr sz="900">
                <a:solidFill>
                  <a:srgbClr val="2D58AC"/>
                </a:solidFill>
                <a:latin typeface="Gill Sans"/>
                <a:ea typeface="Gill Sans"/>
                <a:cs typeface="Gill Sans"/>
                <a:sym typeface="Gill Sans"/>
              </a:defRPr>
            </a:lvl3pPr>
            <a:lvl4pPr indent="0" lvl="3" marL="0" algn="r">
              <a:spcBef>
                <a:spcPts val="0"/>
              </a:spcBef>
              <a:buNone/>
              <a:defRPr sz="900">
                <a:solidFill>
                  <a:srgbClr val="2D58AC"/>
                </a:solidFill>
                <a:latin typeface="Gill Sans"/>
                <a:ea typeface="Gill Sans"/>
                <a:cs typeface="Gill Sans"/>
                <a:sym typeface="Gill Sans"/>
              </a:defRPr>
            </a:lvl4pPr>
            <a:lvl5pPr indent="0" lvl="4" marL="0" algn="r">
              <a:spcBef>
                <a:spcPts val="0"/>
              </a:spcBef>
              <a:buNone/>
              <a:defRPr sz="900">
                <a:solidFill>
                  <a:srgbClr val="2D58AC"/>
                </a:solidFill>
                <a:latin typeface="Gill Sans"/>
                <a:ea typeface="Gill Sans"/>
                <a:cs typeface="Gill Sans"/>
                <a:sym typeface="Gill Sans"/>
              </a:defRPr>
            </a:lvl5pPr>
            <a:lvl6pPr indent="0" lvl="5" marL="0" algn="r">
              <a:spcBef>
                <a:spcPts val="0"/>
              </a:spcBef>
              <a:buNone/>
              <a:defRPr sz="900">
                <a:solidFill>
                  <a:srgbClr val="2D58AC"/>
                </a:solidFill>
                <a:latin typeface="Gill Sans"/>
                <a:ea typeface="Gill Sans"/>
                <a:cs typeface="Gill Sans"/>
                <a:sym typeface="Gill Sans"/>
              </a:defRPr>
            </a:lvl6pPr>
            <a:lvl7pPr indent="0" lvl="6" marL="0" algn="r">
              <a:spcBef>
                <a:spcPts val="0"/>
              </a:spcBef>
              <a:buNone/>
              <a:defRPr sz="900">
                <a:solidFill>
                  <a:srgbClr val="2D58AC"/>
                </a:solidFill>
                <a:latin typeface="Gill Sans"/>
                <a:ea typeface="Gill Sans"/>
                <a:cs typeface="Gill Sans"/>
                <a:sym typeface="Gill Sans"/>
              </a:defRPr>
            </a:lvl7pPr>
            <a:lvl8pPr indent="0" lvl="7" marL="0" algn="r">
              <a:spcBef>
                <a:spcPts val="0"/>
              </a:spcBef>
              <a:buNone/>
              <a:defRPr sz="900">
                <a:solidFill>
                  <a:srgbClr val="2D58AC"/>
                </a:solidFill>
                <a:latin typeface="Gill Sans"/>
                <a:ea typeface="Gill Sans"/>
                <a:cs typeface="Gill Sans"/>
                <a:sym typeface="Gill Sans"/>
              </a:defRPr>
            </a:lvl8pPr>
            <a:lvl9pPr indent="0" lvl="8" marL="0" algn="r">
              <a:spcBef>
                <a:spcPts val="0"/>
              </a:spcBef>
              <a:buNone/>
              <a:defRPr sz="900">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 name="Google Shape;11;p1"/>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3" lvl="3" marL="18288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12" name="Google Shape;12;p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accent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accent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2"/>
                </a:solidFill>
                <a:latin typeface="Gill Sans"/>
                <a:ea typeface="Gill Sans"/>
                <a:cs typeface="Gill Sans"/>
                <a:sym typeface="Gill Sans"/>
              </a:defRPr>
            </a:lvl1pPr>
            <a:lvl2pPr indent="0" lvl="1" marL="0" marR="0" rtl="0" algn="r">
              <a:spcBef>
                <a:spcPts val="0"/>
              </a:spcBef>
              <a:buNone/>
              <a:defRPr b="0" i="0" sz="900" u="none" cap="none" strike="noStrike">
                <a:solidFill>
                  <a:schemeClr val="accent2"/>
                </a:solidFill>
                <a:latin typeface="Gill Sans"/>
                <a:ea typeface="Gill Sans"/>
                <a:cs typeface="Gill Sans"/>
                <a:sym typeface="Gill Sans"/>
              </a:defRPr>
            </a:lvl2pPr>
            <a:lvl3pPr indent="0" lvl="2" marL="0" marR="0" rtl="0" algn="r">
              <a:spcBef>
                <a:spcPts val="0"/>
              </a:spcBef>
              <a:buNone/>
              <a:defRPr b="0" i="0" sz="900" u="none" cap="none" strike="noStrike">
                <a:solidFill>
                  <a:schemeClr val="accent2"/>
                </a:solidFill>
                <a:latin typeface="Gill Sans"/>
                <a:ea typeface="Gill Sans"/>
                <a:cs typeface="Gill Sans"/>
                <a:sym typeface="Gill Sans"/>
              </a:defRPr>
            </a:lvl3pPr>
            <a:lvl4pPr indent="0" lvl="3" marL="0" marR="0" rtl="0" algn="r">
              <a:spcBef>
                <a:spcPts val="0"/>
              </a:spcBef>
              <a:buNone/>
              <a:defRPr b="0" i="0" sz="900" u="none" cap="none" strike="noStrike">
                <a:solidFill>
                  <a:schemeClr val="accent2"/>
                </a:solidFill>
                <a:latin typeface="Gill Sans"/>
                <a:ea typeface="Gill Sans"/>
                <a:cs typeface="Gill Sans"/>
                <a:sym typeface="Gill Sans"/>
              </a:defRPr>
            </a:lvl4pPr>
            <a:lvl5pPr indent="0" lvl="4" marL="0" marR="0" rtl="0" algn="r">
              <a:spcBef>
                <a:spcPts val="0"/>
              </a:spcBef>
              <a:buNone/>
              <a:defRPr b="0" i="0" sz="900" u="none" cap="none" strike="noStrike">
                <a:solidFill>
                  <a:schemeClr val="accent2"/>
                </a:solidFill>
                <a:latin typeface="Gill Sans"/>
                <a:ea typeface="Gill Sans"/>
                <a:cs typeface="Gill Sans"/>
                <a:sym typeface="Gill Sans"/>
              </a:defRPr>
            </a:lvl5pPr>
            <a:lvl6pPr indent="0" lvl="5" marL="0" marR="0" rtl="0" algn="r">
              <a:spcBef>
                <a:spcPts val="0"/>
              </a:spcBef>
              <a:buNone/>
              <a:defRPr b="0" i="0" sz="900" u="none" cap="none" strike="noStrike">
                <a:solidFill>
                  <a:schemeClr val="accent2"/>
                </a:solidFill>
                <a:latin typeface="Gill Sans"/>
                <a:ea typeface="Gill Sans"/>
                <a:cs typeface="Gill Sans"/>
                <a:sym typeface="Gill Sans"/>
              </a:defRPr>
            </a:lvl6pPr>
            <a:lvl7pPr indent="0" lvl="6" marL="0" marR="0" rtl="0" algn="r">
              <a:spcBef>
                <a:spcPts val="0"/>
              </a:spcBef>
              <a:buNone/>
              <a:defRPr b="0" i="0" sz="900" u="none" cap="none" strike="noStrike">
                <a:solidFill>
                  <a:schemeClr val="accent2"/>
                </a:solidFill>
                <a:latin typeface="Gill Sans"/>
                <a:ea typeface="Gill Sans"/>
                <a:cs typeface="Gill Sans"/>
                <a:sym typeface="Gill Sans"/>
              </a:defRPr>
            </a:lvl7pPr>
            <a:lvl8pPr indent="0" lvl="7" marL="0" marR="0" rtl="0" algn="r">
              <a:spcBef>
                <a:spcPts val="0"/>
              </a:spcBef>
              <a:buNone/>
              <a:defRPr b="0" i="0" sz="900" u="none" cap="none" strike="noStrike">
                <a:solidFill>
                  <a:schemeClr val="accent2"/>
                </a:solidFill>
                <a:latin typeface="Gill Sans"/>
                <a:ea typeface="Gill Sans"/>
                <a:cs typeface="Gill Sans"/>
                <a:sym typeface="Gill Sans"/>
              </a:defRPr>
            </a:lvl8pPr>
            <a:lvl9pPr indent="0" lvl="8" marL="0" marR="0" rtl="0" algn="r">
              <a:spcBef>
                <a:spcPts val="0"/>
              </a:spcBef>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pic>
        <p:nvPicPr>
          <p:cNvPr descr="Digital Connections" id="102" name="Google Shape;102;p13"/>
          <p:cNvPicPr preferRelativeResize="0"/>
          <p:nvPr/>
        </p:nvPicPr>
        <p:blipFill rotWithShape="1">
          <a:blip r:embed="rId3">
            <a:alphaModFix/>
          </a:blip>
          <a:srcRect b="0" l="13265" r="3502" t="9090"/>
          <a:stretch/>
        </p:blipFill>
        <p:spPr>
          <a:xfrm>
            <a:off x="-16925" y="92528"/>
            <a:ext cx="12191980" cy="6857990"/>
          </a:xfrm>
          <a:prstGeom prst="rect">
            <a:avLst/>
          </a:prstGeom>
          <a:noFill/>
          <a:ln>
            <a:noFill/>
          </a:ln>
        </p:spPr>
      </p:pic>
      <p:grpSp>
        <p:nvGrpSpPr>
          <p:cNvPr id="103" name="Google Shape;103;p13"/>
          <p:cNvGrpSpPr/>
          <p:nvPr/>
        </p:nvGrpSpPr>
        <p:grpSpPr>
          <a:xfrm>
            <a:off x="446534" y="453643"/>
            <a:ext cx="11298933" cy="98554"/>
            <a:chOff x="446534" y="453643"/>
            <a:chExt cx="11298933" cy="98554"/>
          </a:xfrm>
        </p:grpSpPr>
        <p:sp>
          <p:nvSpPr>
            <p:cNvPr id="104" name="Google Shape;104;p13"/>
            <p:cNvSpPr/>
            <p:nvPr/>
          </p:nvSpPr>
          <p:spPr>
            <a:xfrm>
              <a:off x="446534" y="457200"/>
              <a:ext cx="3703320" cy="9499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5" name="Google Shape;105;p13"/>
            <p:cNvSpPr/>
            <p:nvPr/>
          </p:nvSpPr>
          <p:spPr>
            <a:xfrm>
              <a:off x="8042147" y="453643"/>
              <a:ext cx="3703320" cy="98554"/>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6" name="Google Shape;106;p13"/>
            <p:cNvSpPr/>
            <p:nvPr/>
          </p:nvSpPr>
          <p:spPr>
            <a:xfrm>
              <a:off x="4241830" y="457200"/>
              <a:ext cx="3703320" cy="9144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07" name="Google Shape;107;p13"/>
          <p:cNvSpPr/>
          <p:nvPr/>
        </p:nvSpPr>
        <p:spPr>
          <a:xfrm>
            <a:off x="448732" y="4428067"/>
            <a:ext cx="11260667" cy="1962497"/>
          </a:xfrm>
          <a:prstGeom prst="rect">
            <a:avLst/>
          </a:prstGeom>
          <a:solidFill>
            <a:schemeClr val="accent1">
              <a:alpha val="96862"/>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8" name="Google Shape;108;p13"/>
          <p:cNvSpPr txBox="1"/>
          <p:nvPr>
            <p:ph idx="1" type="subTitle"/>
          </p:nvPr>
        </p:nvSpPr>
        <p:spPr>
          <a:xfrm>
            <a:off x="3427523" y="4474059"/>
            <a:ext cx="3917949" cy="4848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56"/>
              <a:buNone/>
            </a:pPr>
            <a:r>
              <a:rPr lang="en-US" sz="1800" cap="none">
                <a:solidFill>
                  <a:srgbClr val="7CEBFF"/>
                </a:solidFill>
              </a:rPr>
              <a:t>Presented by:</a:t>
            </a:r>
            <a:endParaRPr/>
          </a:p>
        </p:txBody>
      </p:sp>
      <p:sp>
        <p:nvSpPr>
          <p:cNvPr id="109" name="Google Shape;109;p13"/>
          <p:cNvSpPr/>
          <p:nvPr/>
        </p:nvSpPr>
        <p:spPr>
          <a:xfrm>
            <a:off x="76148" y="2402711"/>
            <a:ext cx="12034684" cy="895244"/>
          </a:xfrm>
          <a:prstGeom prst="rect">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10" name="Google Shape;110;p13"/>
          <p:cNvSpPr txBox="1"/>
          <p:nvPr>
            <p:ph type="ctrTitle"/>
          </p:nvPr>
        </p:nvSpPr>
        <p:spPr>
          <a:xfrm>
            <a:off x="76148" y="2383014"/>
            <a:ext cx="12034684" cy="1044846"/>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lt1"/>
              </a:buClr>
              <a:buSzPts val="3000"/>
              <a:buFont typeface="Arial"/>
              <a:buNone/>
            </a:pPr>
            <a:r>
              <a:rPr b="1" lang="en-US" sz="3000">
                <a:solidFill>
                  <a:schemeClr val="lt1"/>
                </a:solidFill>
                <a:latin typeface="Arial"/>
                <a:ea typeface="Arial"/>
                <a:cs typeface="Arial"/>
                <a:sym typeface="Arial"/>
              </a:rPr>
              <a:t>TITLE: INVESTIGATE IMAGE RECONSTRUCTION BY USING CLASSIFIERS</a:t>
            </a:r>
            <a:endParaRPr/>
          </a:p>
        </p:txBody>
      </p:sp>
      <p:sp>
        <p:nvSpPr>
          <p:cNvPr id="111" name="Google Shape;111;p13"/>
          <p:cNvSpPr txBox="1"/>
          <p:nvPr/>
        </p:nvSpPr>
        <p:spPr>
          <a:xfrm>
            <a:off x="68826" y="1524000"/>
            <a:ext cx="5020245" cy="473529"/>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lt1"/>
              </a:buClr>
              <a:buSzPts val="2000"/>
              <a:buFont typeface="Arial"/>
              <a:buNone/>
            </a:pPr>
            <a:r>
              <a:rPr b="1" lang="en-US" sz="2000" u="none" cap="none">
                <a:solidFill>
                  <a:schemeClr val="lt1"/>
                </a:solidFill>
                <a:latin typeface="Arial"/>
                <a:ea typeface="Arial"/>
                <a:cs typeface="Arial"/>
                <a:sym typeface="Arial"/>
              </a:rPr>
              <a:t>SOFTWARE ENGINEERING PROJECT</a:t>
            </a:r>
            <a:endParaRPr/>
          </a:p>
        </p:txBody>
      </p:sp>
      <p:sp>
        <p:nvSpPr>
          <p:cNvPr id="112" name="Google Shape;112;p13"/>
          <p:cNvSpPr txBox="1"/>
          <p:nvPr/>
        </p:nvSpPr>
        <p:spPr>
          <a:xfrm>
            <a:off x="3427523" y="4999559"/>
            <a:ext cx="4837222" cy="1141466"/>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2"/>
              </a:buClr>
              <a:buSzPts val="1288"/>
              <a:buFont typeface="Noto Sans Symbols"/>
              <a:buNone/>
            </a:pPr>
            <a:r>
              <a:rPr b="0" lang="en-US" sz="1400" u="none" cap="none">
                <a:solidFill>
                  <a:schemeClr val="lt1"/>
                </a:solidFill>
                <a:latin typeface="Arial"/>
                <a:ea typeface="Arial"/>
                <a:cs typeface="Arial"/>
                <a:sym typeface="Arial"/>
              </a:rPr>
              <a:t>Abdul Wahab                        -	     1447523</a:t>
            </a:r>
            <a:endParaRPr/>
          </a:p>
          <a:p>
            <a:pPr indent="0" lvl="0" marL="0" marR="0" rtl="0" algn="l">
              <a:spcBef>
                <a:spcPts val="880"/>
              </a:spcBef>
              <a:spcAft>
                <a:spcPts val="0"/>
              </a:spcAft>
              <a:buClr>
                <a:schemeClr val="accent2"/>
              </a:buClr>
              <a:buSzPts val="1288"/>
              <a:buFont typeface="Noto Sans Symbols"/>
              <a:buNone/>
            </a:pPr>
            <a:r>
              <a:rPr b="0" lang="en-US" sz="1400" u="none" cap="none">
                <a:solidFill>
                  <a:schemeClr val="lt1"/>
                </a:solidFill>
                <a:latin typeface="Arial"/>
                <a:ea typeface="Arial"/>
                <a:cs typeface="Arial"/>
                <a:sym typeface="Arial"/>
              </a:rPr>
              <a:t>Romana Rashid                    -       1428733</a:t>
            </a:r>
            <a:endParaRPr b="0" sz="1400" u="none" cap="none">
              <a:solidFill>
                <a:schemeClr val="lt1"/>
              </a:solidFill>
              <a:latin typeface="Arial"/>
              <a:ea typeface="Arial"/>
              <a:cs typeface="Arial"/>
              <a:sym typeface="Arial"/>
            </a:endParaRPr>
          </a:p>
          <a:p>
            <a:pPr indent="0" lvl="0" marL="0" marR="0" rtl="0" algn="l">
              <a:spcBef>
                <a:spcPts val="880"/>
              </a:spcBef>
              <a:spcAft>
                <a:spcPts val="0"/>
              </a:spcAft>
              <a:buClr>
                <a:schemeClr val="accent2"/>
              </a:buClr>
              <a:buSzPts val="1288"/>
              <a:buFont typeface="Noto Sans Symbols"/>
              <a:buNone/>
            </a:pPr>
            <a:r>
              <a:rPr b="0" lang="en-US" sz="1400" u="none" cap="none">
                <a:solidFill>
                  <a:schemeClr val="lt1"/>
                </a:solidFill>
                <a:latin typeface="Arial"/>
                <a:ea typeface="Arial"/>
                <a:cs typeface="Arial"/>
                <a:sym typeface="Arial"/>
              </a:rPr>
              <a:t>Nishat Tasnim Nabila          -	     1502853</a:t>
            </a:r>
            <a:endParaRPr/>
          </a:p>
        </p:txBody>
      </p:sp>
      <p:sp>
        <p:nvSpPr>
          <p:cNvPr id="113" name="Google Shape;113;p13"/>
          <p:cNvSpPr txBox="1"/>
          <p:nvPr/>
        </p:nvSpPr>
        <p:spPr>
          <a:xfrm>
            <a:off x="7708275" y="5008256"/>
            <a:ext cx="2352033" cy="382101"/>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2"/>
              </a:buClr>
              <a:buSzPts val="1288"/>
              <a:buFont typeface="Noto Sans Symbols"/>
              <a:buNone/>
            </a:pPr>
            <a:r>
              <a:rPr b="0" lang="en-US" sz="1400" u="none" cap="none">
                <a:solidFill>
                  <a:schemeClr val="lt1"/>
                </a:solidFill>
                <a:latin typeface="Arial"/>
                <a:ea typeface="Arial"/>
                <a:cs typeface="Arial"/>
                <a:sym typeface="Arial"/>
              </a:rPr>
              <a:t>Prof. Damir Dobric</a:t>
            </a:r>
            <a:endParaRPr b="0" sz="1400" u="none" cap="none">
              <a:solidFill>
                <a:schemeClr val="lt1"/>
              </a:solidFill>
              <a:latin typeface="Arial"/>
              <a:ea typeface="Arial"/>
              <a:cs typeface="Arial"/>
              <a:sym typeface="Arial"/>
            </a:endParaRPr>
          </a:p>
        </p:txBody>
      </p:sp>
      <p:sp>
        <p:nvSpPr>
          <p:cNvPr id="114" name="Google Shape;114;p13"/>
          <p:cNvSpPr txBox="1"/>
          <p:nvPr/>
        </p:nvSpPr>
        <p:spPr>
          <a:xfrm>
            <a:off x="7596298" y="4520050"/>
            <a:ext cx="3166952" cy="484822"/>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2"/>
              </a:buClr>
              <a:buSzPts val="1656"/>
              <a:buFont typeface="Noto Sans Symbols"/>
              <a:buNone/>
            </a:pPr>
            <a:r>
              <a:rPr b="0" lang="en-US" sz="1800" u="none" cap="none">
                <a:solidFill>
                  <a:srgbClr val="7CEBFF"/>
                </a:solidFill>
                <a:latin typeface="Gill Sans"/>
                <a:ea typeface="Gill Sans"/>
                <a:cs typeface="Gill Sans"/>
                <a:sym typeface="Gill Sans"/>
              </a:rPr>
              <a:t>Guided by: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4"/>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3200"/>
              <a:buFont typeface="Gill Sans"/>
              <a:buNone/>
            </a:pPr>
            <a:r>
              <a:rPr lang="en-US" sz="3200" cap="none"/>
              <a:t>Table of Content:</a:t>
            </a:r>
            <a:endParaRPr/>
          </a:p>
        </p:txBody>
      </p:sp>
      <p:sp>
        <p:nvSpPr>
          <p:cNvPr id="120" name="Google Shape;120;p14"/>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p>
            <a:pPr indent="-306000" lvl="0" marL="306000" rtl="0" algn="l">
              <a:spcBef>
                <a:spcPts val="0"/>
              </a:spcBef>
              <a:spcAft>
                <a:spcPts val="0"/>
              </a:spcAft>
              <a:buSzPts val="1656"/>
              <a:buFont typeface="Courier New"/>
              <a:buChar char="o"/>
            </a:pPr>
            <a:r>
              <a:rPr lang="en-US">
                <a:latin typeface="Times New Roman"/>
                <a:ea typeface="Times New Roman"/>
                <a:cs typeface="Times New Roman"/>
                <a:sym typeface="Times New Roman"/>
              </a:rPr>
              <a:t>Introduction</a:t>
            </a:r>
            <a:endParaRPr/>
          </a:p>
          <a:p>
            <a:pPr indent="-306000" lvl="0" marL="306000" rtl="0" algn="l">
              <a:spcBef>
                <a:spcPts val="960"/>
              </a:spcBef>
              <a:spcAft>
                <a:spcPts val="0"/>
              </a:spcAft>
              <a:buSzPts val="1656"/>
              <a:buFont typeface="Courier New"/>
              <a:buChar char="o"/>
            </a:pPr>
            <a:r>
              <a:rPr lang="en-US">
                <a:latin typeface="Times New Roman"/>
                <a:ea typeface="Times New Roman"/>
                <a:cs typeface="Times New Roman"/>
                <a:sym typeface="Times New Roman"/>
              </a:rPr>
              <a:t>Objective</a:t>
            </a:r>
            <a:endParaRPr/>
          </a:p>
          <a:p>
            <a:pPr indent="-306000" lvl="0" marL="306000" rtl="0" algn="l">
              <a:spcBef>
                <a:spcPts val="960"/>
              </a:spcBef>
              <a:spcAft>
                <a:spcPts val="0"/>
              </a:spcAft>
              <a:buSzPts val="1656"/>
              <a:buFont typeface="Courier New"/>
              <a:buChar char="o"/>
            </a:pPr>
            <a:r>
              <a:rPr lang="en-US">
                <a:latin typeface="Times New Roman"/>
                <a:ea typeface="Times New Roman"/>
                <a:cs typeface="Times New Roman"/>
                <a:sym typeface="Times New Roman"/>
              </a:rPr>
              <a:t>Introduction to HTM and KNN classifier </a:t>
            </a:r>
            <a:endParaRPr/>
          </a:p>
          <a:p>
            <a:pPr indent="-306000" lvl="0" marL="306000" rtl="0" algn="l">
              <a:spcBef>
                <a:spcPts val="960"/>
              </a:spcBef>
              <a:spcAft>
                <a:spcPts val="0"/>
              </a:spcAft>
              <a:buSzPts val="1656"/>
              <a:buFont typeface="Courier New"/>
              <a:buChar char="o"/>
            </a:pPr>
            <a:r>
              <a:rPr lang="en-US">
                <a:latin typeface="Times New Roman"/>
                <a:ea typeface="Times New Roman"/>
                <a:cs typeface="Times New Roman"/>
                <a:sym typeface="Times New Roman"/>
              </a:rPr>
              <a:t>HTM classifier’s native implementation</a:t>
            </a:r>
            <a:endParaRPr/>
          </a:p>
          <a:p>
            <a:pPr indent="-306000" lvl="0" marL="306000" rtl="0" algn="l">
              <a:spcBef>
                <a:spcPts val="960"/>
              </a:spcBef>
              <a:spcAft>
                <a:spcPts val="0"/>
              </a:spcAft>
              <a:buSzPts val="1656"/>
              <a:buFont typeface="Courier New"/>
              <a:buChar char="o"/>
            </a:pPr>
            <a:r>
              <a:rPr lang="en-US">
                <a:latin typeface="Times New Roman"/>
                <a:ea typeface="Times New Roman"/>
                <a:cs typeface="Times New Roman"/>
                <a:sym typeface="Times New Roman"/>
              </a:rPr>
              <a:t>KNN classifier’s native implementation</a:t>
            </a:r>
            <a:endParaRPr/>
          </a:p>
          <a:p>
            <a:pPr indent="-306000" lvl="0" marL="306000" rtl="0" algn="l">
              <a:spcBef>
                <a:spcPts val="960"/>
              </a:spcBef>
              <a:spcAft>
                <a:spcPts val="0"/>
              </a:spcAft>
              <a:buSzPts val="1656"/>
              <a:buFont typeface="Courier New"/>
              <a:buChar char="o"/>
            </a:pPr>
            <a:r>
              <a:rPr lang="en-US">
                <a:latin typeface="Times New Roman"/>
                <a:ea typeface="Times New Roman"/>
                <a:cs typeface="Times New Roman"/>
                <a:sym typeface="Times New Roman"/>
              </a:rPr>
              <a:t>HTM and KNN classifier’s integration with Neocortex Api &amp; Unit testing</a:t>
            </a:r>
            <a:endParaRPr/>
          </a:p>
          <a:p>
            <a:pPr indent="-306000" lvl="0" marL="306000" rtl="0" algn="l">
              <a:spcBef>
                <a:spcPts val="960"/>
              </a:spcBef>
              <a:spcAft>
                <a:spcPts val="0"/>
              </a:spcAft>
              <a:buSzPts val="1656"/>
              <a:buFont typeface="Courier New"/>
              <a:buChar char="o"/>
            </a:pPr>
            <a:r>
              <a:rPr lang="en-US">
                <a:latin typeface="Times New Roman"/>
                <a:ea typeface="Times New Roman"/>
                <a:cs typeface="Times New Roman"/>
                <a:sym typeface="Times New Roman"/>
              </a:rPr>
              <a:t>HTM and KNN classifiers on SP generated SDRs  &amp; Unit testing</a:t>
            </a:r>
            <a:endParaRPr/>
          </a:p>
          <a:p>
            <a:pPr indent="-306000" lvl="0" marL="306000" rtl="0" algn="l">
              <a:spcBef>
                <a:spcPts val="960"/>
              </a:spcBef>
              <a:spcAft>
                <a:spcPts val="0"/>
              </a:spcAft>
              <a:buSzPts val="1656"/>
              <a:buFont typeface="Courier New"/>
              <a:buChar char="o"/>
            </a:pPr>
            <a:r>
              <a:rPr lang="en-US">
                <a:latin typeface="Times New Roman"/>
                <a:ea typeface="Times New Roman"/>
                <a:cs typeface="Times New Roman"/>
                <a:sym typeface="Times New Roman"/>
              </a:rPr>
              <a:t>Conclusions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5"/>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3200"/>
              <a:buFont typeface="Gill Sans"/>
              <a:buNone/>
            </a:pPr>
            <a:r>
              <a:rPr lang="en-US" sz="3200" cap="none"/>
              <a:t>Introduction</a:t>
            </a:r>
            <a:endParaRPr/>
          </a:p>
        </p:txBody>
      </p:sp>
      <p:sp>
        <p:nvSpPr>
          <p:cNvPr id="126" name="Google Shape;126;p15"/>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656"/>
              <a:buNone/>
            </a:pPr>
            <a:r>
              <a:t/>
            </a:r>
            <a:endParaRPr>
              <a:latin typeface="Times New Roman"/>
              <a:ea typeface="Times New Roman"/>
              <a:cs typeface="Times New Roman"/>
              <a:sym typeface="Times New Roman"/>
            </a:endParaRPr>
          </a:p>
          <a:p>
            <a:pPr indent="-306000" lvl="0" marL="306000" rtl="0" algn="l">
              <a:spcBef>
                <a:spcPts val="960"/>
              </a:spcBef>
              <a:spcAft>
                <a:spcPts val="0"/>
              </a:spcAft>
              <a:buSzPts val="1656"/>
              <a:buChar char="◼"/>
            </a:pPr>
            <a:r>
              <a:rPr lang="en-US">
                <a:latin typeface="Times New Roman"/>
                <a:ea typeface="Times New Roman"/>
                <a:cs typeface="Times New Roman"/>
                <a:sym typeface="Times New Roman"/>
              </a:rPr>
              <a:t>Image reconstruction is a crucial challenge in computer vision, AI, and machine learning.  </a:t>
            </a:r>
            <a:endParaRPr/>
          </a:p>
          <a:p>
            <a:pPr indent="-306000" lvl="0" marL="306000" rtl="0" algn="l">
              <a:spcBef>
                <a:spcPts val="960"/>
              </a:spcBef>
              <a:spcAft>
                <a:spcPts val="0"/>
              </a:spcAft>
              <a:buSzPts val="1656"/>
              <a:buChar char="◼"/>
            </a:pPr>
            <a:r>
              <a:rPr lang="en-US">
                <a:latin typeface="Times New Roman"/>
                <a:ea typeface="Times New Roman"/>
                <a:cs typeface="Times New Roman"/>
                <a:sym typeface="Times New Roman"/>
              </a:rPr>
              <a:t>The goal is to reconstruct or approximate images from incomplete, noisy, or partial data.  </a:t>
            </a:r>
            <a:endParaRPr/>
          </a:p>
          <a:p>
            <a:pPr indent="-306000" lvl="0" marL="306000" rtl="0" algn="l">
              <a:spcBef>
                <a:spcPts val="960"/>
              </a:spcBef>
              <a:spcAft>
                <a:spcPts val="0"/>
              </a:spcAft>
              <a:buSzPts val="1656"/>
              <a:buChar char="◼"/>
            </a:pPr>
            <a:r>
              <a:rPr lang="en-US">
                <a:latin typeface="Times New Roman"/>
                <a:ea typeface="Times New Roman"/>
                <a:cs typeface="Times New Roman"/>
                <a:sym typeface="Times New Roman"/>
              </a:rPr>
              <a:t> Sparse Distributed Representations (SDRs) play a key role in efficiently encoding image information.  </a:t>
            </a:r>
            <a:endParaRPr/>
          </a:p>
          <a:p>
            <a:pPr indent="-306000" lvl="0" marL="306000" rtl="0" algn="l">
              <a:spcBef>
                <a:spcPts val="960"/>
              </a:spcBef>
              <a:spcAft>
                <a:spcPts val="0"/>
              </a:spcAft>
              <a:buSzPts val="1656"/>
              <a:buChar char="◼"/>
            </a:pPr>
            <a:r>
              <a:rPr lang="en-US">
                <a:latin typeface="Times New Roman"/>
                <a:ea typeface="Times New Roman"/>
                <a:cs typeface="Times New Roman"/>
                <a:sym typeface="Times New Roman"/>
              </a:rPr>
              <a:t> By using a Spatial Pooler, the system mimics how the neocortex processes data.  </a:t>
            </a:r>
            <a:endParaRPr/>
          </a:p>
          <a:p>
            <a:pPr indent="-306000" lvl="0" marL="306000" rtl="0" algn="l">
              <a:spcBef>
                <a:spcPts val="960"/>
              </a:spcBef>
              <a:spcAft>
                <a:spcPts val="0"/>
              </a:spcAft>
              <a:buSzPts val="1656"/>
              <a:buChar char="◼"/>
            </a:pPr>
            <a:r>
              <a:rPr lang="en-US">
                <a:latin typeface="Times New Roman"/>
                <a:ea typeface="Times New Roman"/>
                <a:cs typeface="Times New Roman"/>
                <a:sym typeface="Times New Roman"/>
              </a:rPr>
              <a:t> Classifiers trained on SDRs help reconstruct the original image content.  </a:t>
            </a:r>
            <a:endParaRPr/>
          </a:p>
          <a:p>
            <a:pPr indent="-306000" lvl="0" marL="306000" rtl="0" algn="l">
              <a:spcBef>
                <a:spcPts val="960"/>
              </a:spcBef>
              <a:spcAft>
                <a:spcPts val="0"/>
              </a:spcAft>
              <a:buSzPts val="1656"/>
              <a:buChar char="◼"/>
            </a:pPr>
            <a:r>
              <a:rPr lang="en-US">
                <a:latin typeface="Times New Roman"/>
                <a:ea typeface="Times New Roman"/>
                <a:cs typeface="Times New Roman"/>
                <a:sym typeface="Times New Roman"/>
              </a:rPr>
              <a:t> This approach provides a computationally efficient and interpretable alternative to deep learning.  </a:t>
            </a:r>
            <a:endParaRPr/>
          </a:p>
          <a:p>
            <a:pPr indent="-306000" lvl="0" marL="306000" rtl="0" algn="l">
              <a:spcBef>
                <a:spcPts val="960"/>
              </a:spcBef>
              <a:spcAft>
                <a:spcPts val="0"/>
              </a:spcAft>
              <a:buSzPts val="1656"/>
              <a:buChar char="◼"/>
            </a:pPr>
            <a:r>
              <a:rPr lang="en-US">
                <a:latin typeface="Times New Roman"/>
                <a:ea typeface="Times New Roman"/>
                <a:cs typeface="Times New Roman"/>
                <a:sym typeface="Times New Roman"/>
              </a:rPr>
              <a:t> The study aims to develop scalable and robust image reconstruction methods for practical applications.  </a:t>
            </a:r>
            <a:endParaRPr/>
          </a:p>
          <a:p>
            <a:pPr indent="0" lvl="0" marL="0" rtl="0" algn="l">
              <a:spcBef>
                <a:spcPts val="960"/>
              </a:spcBef>
              <a:spcAft>
                <a:spcPts val="0"/>
              </a:spcAft>
              <a:buSzPts val="1656"/>
              <a:buNone/>
            </a:pPr>
            <a:r>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3200"/>
              <a:buFont typeface="Gill Sans"/>
              <a:buNone/>
            </a:pPr>
            <a:r>
              <a:rPr lang="en-US" sz="3200" cap="none"/>
              <a:t>Objectives</a:t>
            </a:r>
            <a:endParaRPr/>
          </a:p>
        </p:txBody>
      </p:sp>
      <p:sp>
        <p:nvSpPr>
          <p:cNvPr id="132" name="Google Shape;132;p16"/>
          <p:cNvSpPr txBox="1"/>
          <p:nvPr>
            <p:ph idx="1" type="body"/>
          </p:nvPr>
        </p:nvSpPr>
        <p:spPr>
          <a:xfrm>
            <a:off x="581192" y="2180496"/>
            <a:ext cx="4861665" cy="3678303"/>
          </a:xfrm>
          <a:prstGeom prst="rect">
            <a:avLst/>
          </a:prstGeom>
          <a:noFill/>
          <a:ln>
            <a:noFill/>
          </a:ln>
        </p:spPr>
        <p:txBody>
          <a:bodyPr anchorCtr="0" anchor="ctr" bIns="45700" lIns="91425" spcFirstLastPara="1" rIns="91425" wrap="square" tIns="45700">
            <a:normAutofit fontScale="85000" lnSpcReduction="20000"/>
          </a:bodyPr>
          <a:lstStyle/>
          <a:p>
            <a:pPr indent="-306000" lvl="0" marL="306000" rtl="0" algn="l">
              <a:spcBef>
                <a:spcPts val="0"/>
              </a:spcBef>
              <a:spcAft>
                <a:spcPts val="0"/>
              </a:spcAft>
              <a:buSzPct val="91999"/>
              <a:buFont typeface="Courier New"/>
              <a:buChar char="o"/>
            </a:pPr>
            <a:r>
              <a:rPr b="1" lang="en-US"/>
              <a:t>To implement an image processing pipeline</a:t>
            </a:r>
            <a:r>
              <a:rPr lang="en-US"/>
              <a:t> that converts input images into binary format for efficient sparse encoding.</a:t>
            </a:r>
            <a:endParaRPr/>
          </a:p>
          <a:p>
            <a:pPr indent="-306000" lvl="0" marL="306000" rtl="0" algn="l">
              <a:spcBef>
                <a:spcPts val="906"/>
              </a:spcBef>
              <a:spcAft>
                <a:spcPts val="0"/>
              </a:spcAft>
              <a:buSzPct val="91999"/>
              <a:buFont typeface="Courier New"/>
              <a:buChar char="o"/>
            </a:pPr>
            <a:r>
              <a:rPr b="1" lang="en-US"/>
              <a:t>To generate Sparse Distributed Representations (SDRs)</a:t>
            </a:r>
            <a:r>
              <a:rPr lang="en-US"/>
              <a:t> using an image encoder followed by a Spatial Pooler inspired by the HTM framework.</a:t>
            </a:r>
            <a:endParaRPr/>
          </a:p>
          <a:p>
            <a:pPr indent="-306000" lvl="0" marL="306000" rtl="0" algn="l">
              <a:spcBef>
                <a:spcPts val="906"/>
              </a:spcBef>
              <a:spcAft>
                <a:spcPts val="0"/>
              </a:spcAft>
              <a:buSzPct val="91999"/>
              <a:buFont typeface="Courier New"/>
              <a:buChar char="o"/>
            </a:pPr>
            <a:r>
              <a:rPr b="1" lang="en-US"/>
              <a:t>To apply and train two classifiers</a:t>
            </a:r>
            <a:r>
              <a:rPr lang="en-US"/>
              <a:t> — HTM and k-NN — on the SDR dataset for predictive modeling.</a:t>
            </a:r>
            <a:endParaRPr/>
          </a:p>
          <a:p>
            <a:pPr indent="-306000" lvl="0" marL="306000" rtl="0" algn="l">
              <a:spcBef>
                <a:spcPts val="906"/>
              </a:spcBef>
              <a:spcAft>
                <a:spcPts val="0"/>
              </a:spcAft>
              <a:buSzPct val="91999"/>
              <a:buFont typeface="Courier New"/>
              <a:buChar char="o"/>
            </a:pPr>
            <a:r>
              <a:rPr b="1" lang="en-US"/>
              <a:t>To reconstruct images</a:t>
            </a:r>
            <a:r>
              <a:rPr lang="en-US"/>
              <a:t> from the classifier outputs using dedicated HTM and k-NN reconstructor modules.</a:t>
            </a:r>
            <a:endParaRPr/>
          </a:p>
          <a:p>
            <a:pPr indent="-306000" lvl="0" marL="306000" rtl="0" algn="l">
              <a:spcBef>
                <a:spcPts val="906"/>
              </a:spcBef>
              <a:spcAft>
                <a:spcPts val="0"/>
              </a:spcAft>
              <a:buSzPct val="91999"/>
              <a:buFont typeface="Courier New"/>
              <a:buChar char="o"/>
            </a:pPr>
            <a:r>
              <a:rPr b="1" lang="en-US"/>
              <a:t>To perform a comparative evaluation</a:t>
            </a:r>
            <a:r>
              <a:rPr lang="en-US"/>
              <a:t> of HTM and k-NN reconstruction accuracy and quality.</a:t>
            </a:r>
            <a:endParaRPr/>
          </a:p>
          <a:p>
            <a:pPr indent="-306000" lvl="0" marL="306000" rtl="0" algn="l">
              <a:spcBef>
                <a:spcPts val="906"/>
              </a:spcBef>
              <a:spcAft>
                <a:spcPts val="0"/>
              </a:spcAft>
              <a:buSzPct val="91999"/>
              <a:buFont typeface="Courier New"/>
              <a:buChar char="o"/>
            </a:pPr>
            <a:r>
              <a:rPr b="1" lang="en-US"/>
              <a:t>To analyze which classifier</a:t>
            </a:r>
            <a:r>
              <a:rPr lang="en-US"/>
              <a:t> better preserves the original image information in the reconstruction process.</a:t>
            </a:r>
            <a:endParaRPr/>
          </a:p>
        </p:txBody>
      </p:sp>
      <p:pic>
        <p:nvPicPr>
          <p:cNvPr id="133" name="Google Shape;133;p16"/>
          <p:cNvPicPr preferRelativeResize="0"/>
          <p:nvPr/>
        </p:nvPicPr>
        <p:blipFill rotWithShape="1">
          <a:blip r:embed="rId3">
            <a:alphaModFix/>
          </a:blip>
          <a:srcRect b="0" l="0" r="0" t="0"/>
          <a:stretch/>
        </p:blipFill>
        <p:spPr>
          <a:xfrm>
            <a:off x="5574890" y="1993683"/>
            <a:ext cx="5810865" cy="323707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7"/>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Introduction to HTM Classifier</a:t>
            </a:r>
            <a:endParaRPr/>
          </a:p>
        </p:txBody>
      </p:sp>
      <p:sp>
        <p:nvSpPr>
          <p:cNvPr id="139" name="Google Shape;139;p17"/>
          <p:cNvSpPr txBox="1"/>
          <p:nvPr>
            <p:ph idx="1" type="body"/>
          </p:nvPr>
        </p:nvSpPr>
        <p:spPr>
          <a:xfrm>
            <a:off x="456006" y="2053249"/>
            <a:ext cx="11327780" cy="1179807"/>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288"/>
              <a:buNone/>
            </a:pPr>
            <a:r>
              <a:rPr lang="en-US" sz="1400">
                <a:latin typeface="Times New Roman"/>
                <a:ea typeface="Times New Roman"/>
                <a:cs typeface="Times New Roman"/>
                <a:sym typeface="Times New Roman"/>
              </a:rPr>
              <a:t>A machine learning model with biological inspiration, the HTM (Hierarchical Temporal Memory) classifier is based on the structure and function of the human brain's neocortex. It is a component of the HTM framework, which Numenta initially created.</a:t>
            </a:r>
            <a:r>
              <a:rPr lang="en-US" sz="1400"/>
              <a:t> </a:t>
            </a:r>
            <a:r>
              <a:rPr lang="en-US" sz="1400">
                <a:latin typeface="Times New Roman"/>
                <a:ea typeface="Times New Roman"/>
                <a:cs typeface="Times New Roman"/>
                <a:sym typeface="Times New Roman"/>
              </a:rPr>
              <a:t>its key strength lies in learning </a:t>
            </a:r>
            <a:r>
              <a:rPr b="1" lang="en-US" sz="1400">
                <a:latin typeface="Times New Roman"/>
                <a:ea typeface="Times New Roman"/>
                <a:cs typeface="Times New Roman"/>
                <a:sym typeface="Times New Roman"/>
              </a:rPr>
              <a:t>temporal patterns</a:t>
            </a:r>
            <a:r>
              <a:rPr lang="en-US" sz="1400">
                <a:latin typeface="Times New Roman"/>
                <a:ea typeface="Times New Roman"/>
                <a:cs typeface="Times New Roman"/>
                <a:sym typeface="Times New Roman"/>
              </a:rPr>
              <a:t> and making </a:t>
            </a:r>
            <a:r>
              <a:rPr b="1" lang="en-US" sz="1400">
                <a:latin typeface="Times New Roman"/>
                <a:ea typeface="Times New Roman"/>
                <a:cs typeface="Times New Roman"/>
                <a:sym typeface="Times New Roman"/>
              </a:rPr>
              <a:t>predictions over time</a:t>
            </a:r>
            <a:r>
              <a:rPr lang="en-US" sz="1400">
                <a:latin typeface="Times New Roman"/>
                <a:ea typeface="Times New Roman"/>
                <a:cs typeface="Times New Roman"/>
                <a:sym typeface="Times New Roman"/>
              </a:rPr>
              <a:t>.</a:t>
            </a:r>
            <a:endParaRPr/>
          </a:p>
          <a:p>
            <a:pPr indent="0" lvl="0" marL="0" rtl="0" algn="l">
              <a:spcBef>
                <a:spcPts val="880"/>
              </a:spcBef>
              <a:spcAft>
                <a:spcPts val="0"/>
              </a:spcAft>
              <a:buSzPts val="1288"/>
              <a:buNone/>
            </a:pPr>
            <a:r>
              <a:t/>
            </a:r>
            <a:endParaRPr sz="1400">
              <a:latin typeface="Times New Roman"/>
              <a:ea typeface="Times New Roman"/>
              <a:cs typeface="Times New Roman"/>
              <a:sym typeface="Times New Roman"/>
            </a:endParaRPr>
          </a:p>
        </p:txBody>
      </p:sp>
      <p:sp>
        <p:nvSpPr>
          <p:cNvPr id="140" name="Google Shape;140;p17"/>
          <p:cNvSpPr txBox="1"/>
          <p:nvPr/>
        </p:nvSpPr>
        <p:spPr>
          <a:xfrm>
            <a:off x="456006" y="3233056"/>
            <a:ext cx="11154802" cy="1643744"/>
          </a:xfrm>
          <a:prstGeom prst="rect">
            <a:avLst/>
          </a:prstGeom>
          <a:noFill/>
          <a:ln>
            <a:noFill/>
          </a:ln>
        </p:spPr>
        <p:txBody>
          <a:bodyPr anchorCtr="0" anchor="ctr" bIns="45700" lIns="91425" spcFirstLastPara="1" rIns="91425" wrap="square" tIns="45700">
            <a:normAutofit lnSpcReduction="10000"/>
          </a:bodyPr>
          <a:lstStyle/>
          <a:p>
            <a:pPr indent="0" lvl="0" marL="0" marR="0" rtl="0" algn="l">
              <a:spcBef>
                <a:spcPts val="0"/>
              </a:spcBef>
              <a:spcAft>
                <a:spcPts val="0"/>
              </a:spcAft>
              <a:buClr>
                <a:schemeClr val="accent2"/>
              </a:buClr>
              <a:buSzPts val="1288"/>
              <a:buFont typeface="Noto Sans Symbols"/>
              <a:buNone/>
            </a:pPr>
            <a:r>
              <a:rPr lang="en-US" sz="1400">
                <a:solidFill>
                  <a:schemeClr val="dk2"/>
                </a:solidFill>
                <a:latin typeface="Times New Roman"/>
                <a:ea typeface="Times New Roman"/>
                <a:cs typeface="Times New Roman"/>
                <a:sym typeface="Times New Roman"/>
              </a:rPr>
              <a:t>The HTM Classifier is used to</a:t>
            </a:r>
            <a:r>
              <a:rPr lang="en-US" sz="1400">
                <a:solidFill>
                  <a:schemeClr val="dk2"/>
                </a:solidFill>
                <a:latin typeface="Gill Sans"/>
                <a:ea typeface="Gill Sans"/>
                <a:cs typeface="Gill Sans"/>
                <a:sym typeface="Gill Sans"/>
              </a:rPr>
              <a:t>:</a:t>
            </a:r>
            <a:endParaRPr/>
          </a:p>
          <a:p>
            <a:pPr indent="-306000" lvl="0" marL="306000" marR="0" rtl="0" algn="l">
              <a:spcBef>
                <a:spcPts val="880"/>
              </a:spcBef>
              <a:spcAft>
                <a:spcPts val="0"/>
              </a:spcAft>
              <a:buClr>
                <a:schemeClr val="accent2"/>
              </a:buClr>
              <a:buSzPts val="1288"/>
              <a:buFont typeface="Noto Sans Symbols"/>
              <a:buChar char="▪"/>
            </a:pPr>
            <a:r>
              <a:rPr lang="en-US" sz="1400">
                <a:solidFill>
                  <a:schemeClr val="dk2"/>
                </a:solidFill>
                <a:latin typeface="Times New Roman"/>
                <a:ea typeface="Times New Roman"/>
                <a:cs typeface="Times New Roman"/>
                <a:sym typeface="Times New Roman"/>
              </a:rPr>
              <a:t>Interpret patterns learned by the HTM Temporal Memory.</a:t>
            </a:r>
            <a:endParaRPr/>
          </a:p>
          <a:p>
            <a:pPr indent="-306000" lvl="0" marL="306000" marR="0" rtl="0" algn="l">
              <a:spcBef>
                <a:spcPts val="880"/>
              </a:spcBef>
              <a:spcAft>
                <a:spcPts val="0"/>
              </a:spcAft>
              <a:buClr>
                <a:schemeClr val="accent2"/>
              </a:buClr>
              <a:buSzPts val="1288"/>
              <a:buFont typeface="Noto Sans Symbols"/>
              <a:buChar char="▪"/>
            </a:pPr>
            <a:r>
              <a:rPr lang="en-US" sz="1400">
                <a:solidFill>
                  <a:schemeClr val="dk2"/>
                </a:solidFill>
                <a:latin typeface="Times New Roman"/>
                <a:ea typeface="Times New Roman"/>
                <a:cs typeface="Times New Roman"/>
                <a:sym typeface="Times New Roman"/>
              </a:rPr>
              <a:t>Map Sparse Distributed Representations (SDRs) to class labels or numeric values.</a:t>
            </a:r>
            <a:endParaRPr/>
          </a:p>
          <a:p>
            <a:pPr indent="-306000" lvl="0" marL="306000" marR="0" rtl="0" algn="l">
              <a:spcBef>
                <a:spcPts val="880"/>
              </a:spcBef>
              <a:spcAft>
                <a:spcPts val="0"/>
              </a:spcAft>
              <a:buClr>
                <a:schemeClr val="accent2"/>
              </a:buClr>
              <a:buSzPts val="1288"/>
              <a:buFont typeface="Noto Sans Symbols"/>
              <a:buChar char="▪"/>
            </a:pPr>
            <a:r>
              <a:rPr lang="en-US" sz="1400">
                <a:solidFill>
                  <a:schemeClr val="dk2"/>
                </a:solidFill>
                <a:latin typeface="Times New Roman"/>
                <a:ea typeface="Times New Roman"/>
                <a:cs typeface="Times New Roman"/>
                <a:sym typeface="Times New Roman"/>
              </a:rPr>
              <a:t>Make real-time predictions in streaming data environments.</a:t>
            </a:r>
            <a:endParaRPr/>
          </a:p>
          <a:p>
            <a:pPr indent="0" lvl="0" marL="0" marR="0" rtl="0" algn="just">
              <a:spcBef>
                <a:spcPts val="880"/>
              </a:spcBef>
              <a:spcAft>
                <a:spcPts val="0"/>
              </a:spcAft>
              <a:buClr>
                <a:schemeClr val="accent2"/>
              </a:buClr>
              <a:buSzPts val="1288"/>
              <a:buFont typeface="Noto Sans Symbols"/>
              <a:buNone/>
            </a:pPr>
            <a:r>
              <a:rPr lang="en-US" sz="1400">
                <a:solidFill>
                  <a:schemeClr val="dk2"/>
                </a:solidFill>
                <a:latin typeface="Gill Sans"/>
                <a:ea typeface="Gill Sans"/>
                <a:cs typeface="Gill Sans"/>
                <a:sym typeface="Gill Sans"/>
              </a:rPr>
              <a:t>                                            </a:t>
            </a:r>
            <a:endParaRPr/>
          </a:p>
          <a:p>
            <a:pPr indent="0" lvl="0" marL="0" marR="0" rtl="0" algn="l">
              <a:spcBef>
                <a:spcPts val="880"/>
              </a:spcBef>
              <a:spcAft>
                <a:spcPts val="0"/>
              </a:spcAft>
              <a:buClr>
                <a:schemeClr val="accent2"/>
              </a:buClr>
              <a:buSzPts val="1288"/>
              <a:buFont typeface="Noto Sans Symbols"/>
              <a:buNone/>
            </a:pPr>
            <a:r>
              <a:t/>
            </a:r>
            <a:endParaRPr sz="1400">
              <a:solidFill>
                <a:schemeClr val="dk2"/>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8"/>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HTM Classifier Working Principle</a:t>
            </a:r>
            <a:endParaRPr/>
          </a:p>
        </p:txBody>
      </p:sp>
      <p:sp>
        <p:nvSpPr>
          <p:cNvPr id="146" name="Google Shape;146;p18"/>
          <p:cNvSpPr txBox="1"/>
          <p:nvPr>
            <p:ph idx="1" type="body"/>
          </p:nvPr>
        </p:nvSpPr>
        <p:spPr>
          <a:xfrm>
            <a:off x="440871" y="1953987"/>
            <a:ext cx="11348138" cy="4680016"/>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SzPts val="1288"/>
              <a:buNone/>
            </a:pPr>
            <a:r>
              <a:rPr lang="en-US" sz="1400">
                <a:latin typeface="Times New Roman"/>
                <a:ea typeface="Times New Roman"/>
                <a:cs typeface="Times New Roman"/>
                <a:sym typeface="Times New Roman"/>
              </a:rPr>
              <a:t>The HTM Classifier is part of the HTM system, and it works together with components like the Encoder, Spatial Pooler, and Temporal Memory. It is designed to map the internal state of the HTM network (typically the active cells in Temporal Memory) to a predicted class label or value.</a:t>
            </a:r>
            <a:endParaRPr/>
          </a:p>
          <a:p>
            <a:pPr indent="0" lvl="0" marL="0" rtl="0" algn="l">
              <a:spcBef>
                <a:spcPts val="880"/>
              </a:spcBef>
              <a:spcAft>
                <a:spcPts val="0"/>
              </a:spcAft>
              <a:buSzPts val="1288"/>
              <a:buNone/>
            </a:pPr>
            <a:r>
              <a:t/>
            </a:r>
            <a:endParaRPr sz="1400">
              <a:latin typeface="Times New Roman"/>
              <a:ea typeface="Times New Roman"/>
              <a:cs typeface="Times New Roman"/>
              <a:sym typeface="Times New Roman"/>
            </a:endParaRPr>
          </a:p>
          <a:p>
            <a:pPr indent="-306000" lvl="0" marL="306000" rtl="0" algn="just">
              <a:spcBef>
                <a:spcPts val="880"/>
              </a:spcBef>
              <a:spcAft>
                <a:spcPts val="0"/>
              </a:spcAft>
              <a:buSzPts val="1288"/>
              <a:buFont typeface="Noto Sans Symbols"/>
              <a:buChar char="▪"/>
            </a:pPr>
            <a:r>
              <a:rPr lang="en-US" sz="1400">
                <a:latin typeface="Times New Roman"/>
                <a:ea typeface="Times New Roman"/>
                <a:cs typeface="Times New Roman"/>
                <a:sym typeface="Times New Roman"/>
              </a:rPr>
              <a:t>Input Data → Encoder: Converts data into a binary Sparse Distributed Representation (SDR).</a:t>
            </a:r>
            <a:endParaRPr/>
          </a:p>
          <a:p>
            <a:pPr indent="-306000" lvl="0" marL="306000" rtl="0" algn="just">
              <a:spcBef>
                <a:spcPts val="880"/>
              </a:spcBef>
              <a:spcAft>
                <a:spcPts val="0"/>
              </a:spcAft>
              <a:buSzPts val="1288"/>
              <a:buFont typeface="Noto Sans Symbols"/>
              <a:buChar char="▪"/>
            </a:pPr>
            <a:r>
              <a:rPr lang="en-US" sz="1400">
                <a:latin typeface="Times New Roman"/>
                <a:ea typeface="Times New Roman"/>
                <a:cs typeface="Times New Roman"/>
                <a:sym typeface="Times New Roman"/>
              </a:rPr>
              <a:t>SDR → Spatial Pooler: Learns stable, sparse representations of input.</a:t>
            </a:r>
            <a:endParaRPr/>
          </a:p>
          <a:p>
            <a:pPr indent="-306000" lvl="0" marL="306000" rtl="0" algn="just">
              <a:spcBef>
                <a:spcPts val="880"/>
              </a:spcBef>
              <a:spcAft>
                <a:spcPts val="0"/>
              </a:spcAft>
              <a:buSzPts val="1288"/>
              <a:buFont typeface="Noto Sans Symbols"/>
              <a:buChar char="▪"/>
            </a:pPr>
            <a:r>
              <a:rPr lang="en-US" sz="1400">
                <a:latin typeface="Times New Roman"/>
                <a:ea typeface="Times New Roman"/>
                <a:cs typeface="Times New Roman"/>
                <a:sym typeface="Times New Roman"/>
              </a:rPr>
              <a:t>Spatial Output → Temporal Memory (TM): Learns sequences of patterns over time.</a:t>
            </a:r>
            <a:endParaRPr/>
          </a:p>
          <a:p>
            <a:pPr indent="-306000" lvl="0" marL="306000" rtl="0" algn="just">
              <a:spcBef>
                <a:spcPts val="880"/>
              </a:spcBef>
              <a:spcAft>
                <a:spcPts val="0"/>
              </a:spcAft>
              <a:buSzPts val="1288"/>
              <a:buFont typeface="Noto Sans Symbols"/>
              <a:buChar char="▪"/>
            </a:pPr>
            <a:r>
              <a:rPr lang="en-US" sz="1400">
                <a:latin typeface="Times New Roman"/>
                <a:ea typeface="Times New Roman"/>
                <a:cs typeface="Times New Roman"/>
                <a:sym typeface="Times New Roman"/>
              </a:rPr>
              <a:t>Active Cells → HTM Classifier: </a:t>
            </a:r>
            <a:endParaRPr/>
          </a:p>
          <a:p>
            <a:pPr indent="0" lvl="0" marL="0" rtl="0" algn="just">
              <a:spcBef>
                <a:spcPts val="880"/>
              </a:spcBef>
              <a:spcAft>
                <a:spcPts val="0"/>
              </a:spcAft>
              <a:buSzPts val="1288"/>
              <a:buNone/>
            </a:pPr>
            <a:r>
              <a:rPr lang="en-US" sz="1400">
                <a:latin typeface="Times New Roman"/>
                <a:ea typeface="Times New Roman"/>
                <a:cs typeface="Times New Roman"/>
                <a:sym typeface="Times New Roman"/>
              </a:rPr>
              <a:t>        • It observes which SDRs are associated with which outputs. </a:t>
            </a:r>
            <a:endParaRPr/>
          </a:p>
          <a:p>
            <a:pPr indent="0" lvl="0" marL="0" rtl="0" algn="just">
              <a:spcBef>
                <a:spcPts val="880"/>
              </a:spcBef>
              <a:spcAft>
                <a:spcPts val="0"/>
              </a:spcAft>
              <a:buSzPts val="1288"/>
              <a:buNone/>
            </a:pPr>
            <a:r>
              <a:rPr lang="en-US" sz="1400">
                <a:latin typeface="Times New Roman"/>
                <a:ea typeface="Times New Roman"/>
                <a:cs typeface="Times New Roman"/>
                <a:sym typeface="Times New Roman"/>
              </a:rPr>
              <a:t>        • It predicts the most likely class/number based on the current active SDR and learned history.                            </a:t>
            </a:r>
            <a:endParaRPr/>
          </a:p>
          <a:p>
            <a:pPr indent="0" lvl="0" marL="0" rtl="0" algn="l">
              <a:spcBef>
                <a:spcPts val="880"/>
              </a:spcBef>
              <a:spcAft>
                <a:spcPts val="0"/>
              </a:spcAft>
              <a:buSzPts val="1288"/>
              <a:buNone/>
            </a:pPr>
            <a:r>
              <a:rPr lang="en-US" sz="1400">
                <a:latin typeface="Times New Roman"/>
                <a:ea typeface="Times New Roman"/>
                <a:cs typeface="Times New Roman"/>
                <a:sym typeface="Times New Roman"/>
              </a:rPr>
              <a:t>                                                                                                                                                                                              </a:t>
            </a:r>
            <a:endParaRPr/>
          </a:p>
          <a:p>
            <a:pPr indent="0" lvl="0" marL="0" rtl="0" algn="l">
              <a:spcBef>
                <a:spcPts val="880"/>
              </a:spcBef>
              <a:spcAft>
                <a:spcPts val="0"/>
              </a:spcAft>
              <a:buSzPts val="1288"/>
              <a:buNone/>
            </a:pPr>
            <a:r>
              <a:t/>
            </a:r>
            <a:endParaRPr sz="1400">
              <a:latin typeface="Times New Roman"/>
              <a:ea typeface="Times New Roman"/>
              <a:cs typeface="Times New Roman"/>
              <a:sym typeface="Times New Roman"/>
            </a:endParaRPr>
          </a:p>
          <a:p>
            <a:pPr indent="0" lvl="0" marL="0" rtl="0" algn="l">
              <a:spcBef>
                <a:spcPts val="880"/>
              </a:spcBef>
              <a:spcAft>
                <a:spcPts val="0"/>
              </a:spcAft>
              <a:buSzPts val="1288"/>
              <a:buNone/>
            </a:pPr>
            <a:r>
              <a:t/>
            </a:r>
            <a:endParaRPr sz="1400">
              <a:latin typeface="Times New Roman"/>
              <a:ea typeface="Times New Roman"/>
              <a:cs typeface="Times New Roman"/>
              <a:sym typeface="Times New Roman"/>
            </a:endParaRPr>
          </a:p>
          <a:p>
            <a:pPr indent="0" lvl="0" marL="0" rtl="0" algn="l">
              <a:spcBef>
                <a:spcPts val="880"/>
              </a:spcBef>
              <a:spcAft>
                <a:spcPts val="0"/>
              </a:spcAft>
              <a:buSzPts val="1288"/>
              <a:buNone/>
            </a:pPr>
            <a:r>
              <a:t/>
            </a:r>
            <a:endParaRPr sz="1400">
              <a:latin typeface="Times New Roman"/>
              <a:ea typeface="Times New Roman"/>
              <a:cs typeface="Times New Roman"/>
              <a:sym typeface="Times New Roman"/>
            </a:endParaRPr>
          </a:p>
        </p:txBody>
      </p:sp>
      <p:pic>
        <p:nvPicPr>
          <p:cNvPr descr="A diagram of a process&#10;&#10;AI-generated content may be incorrect." id="147" name="Google Shape;147;p18"/>
          <p:cNvPicPr preferRelativeResize="0"/>
          <p:nvPr/>
        </p:nvPicPr>
        <p:blipFill rotWithShape="1">
          <a:blip r:embed="rId3">
            <a:alphaModFix/>
          </a:blip>
          <a:srcRect b="0" l="0" r="0" t="0"/>
          <a:stretch/>
        </p:blipFill>
        <p:spPr>
          <a:xfrm>
            <a:off x="7730288" y="3306603"/>
            <a:ext cx="3880520" cy="1596789"/>
          </a:xfrm>
          <a:prstGeom prst="rect">
            <a:avLst/>
          </a:prstGeom>
          <a:noFill/>
          <a:ln>
            <a:noFill/>
          </a:ln>
        </p:spPr>
      </p:pic>
      <p:sp>
        <p:nvSpPr>
          <p:cNvPr id="148" name="Google Shape;148;p18"/>
          <p:cNvSpPr txBox="1"/>
          <p:nvPr/>
        </p:nvSpPr>
        <p:spPr>
          <a:xfrm>
            <a:off x="6822018" y="5047144"/>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t/>
            </a:r>
            <a:endParaRPr sz="1200">
              <a:solidFill>
                <a:schemeClr val="dk2"/>
              </a:solidFill>
              <a:latin typeface="Times New Roman"/>
              <a:ea typeface="Times New Roman"/>
              <a:cs typeface="Times New Roman"/>
              <a:sym typeface="Times New Roman"/>
            </a:endParaRPr>
          </a:p>
        </p:txBody>
      </p:sp>
      <p:sp>
        <p:nvSpPr>
          <p:cNvPr id="149" name="Google Shape;149;p18"/>
          <p:cNvSpPr txBox="1"/>
          <p:nvPr/>
        </p:nvSpPr>
        <p:spPr>
          <a:xfrm>
            <a:off x="6908136" y="5047144"/>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Fig. HTM Workflow Diagram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9"/>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3200"/>
              <a:buFont typeface="Gill Sans"/>
              <a:buNone/>
            </a:pPr>
            <a:r>
              <a:rPr lang="en-US" sz="3200" cap="none"/>
              <a:t>Introduction to KNN Classifier</a:t>
            </a:r>
            <a:endParaRPr/>
          </a:p>
        </p:txBody>
      </p:sp>
      <p:sp>
        <p:nvSpPr>
          <p:cNvPr id="155" name="Google Shape;155;p19"/>
          <p:cNvSpPr txBox="1"/>
          <p:nvPr>
            <p:ph idx="1" type="body"/>
          </p:nvPr>
        </p:nvSpPr>
        <p:spPr>
          <a:xfrm>
            <a:off x="581192" y="2180497"/>
            <a:ext cx="11029615" cy="939776"/>
          </a:xfrm>
          <a:prstGeom prst="rect">
            <a:avLst/>
          </a:prstGeom>
          <a:noFill/>
          <a:ln>
            <a:noFill/>
          </a:ln>
        </p:spPr>
        <p:txBody>
          <a:bodyPr anchorCtr="0" anchor="ctr" bIns="45700" lIns="91425" spcFirstLastPara="1" rIns="91425" wrap="square" tIns="45700">
            <a:normAutofit/>
          </a:bodyPr>
          <a:lstStyle/>
          <a:p>
            <a:pPr indent="-306000" lvl="0" marL="306000" rtl="0" algn="just">
              <a:spcBef>
                <a:spcPts val="0"/>
              </a:spcBef>
              <a:spcAft>
                <a:spcPts val="0"/>
              </a:spcAft>
              <a:buSzPts val="1288"/>
              <a:buFont typeface="Courier New"/>
              <a:buChar char="o"/>
            </a:pPr>
            <a:r>
              <a:rPr lang="en-US" sz="1400">
                <a:latin typeface="Times New Roman"/>
                <a:ea typeface="Times New Roman"/>
                <a:cs typeface="Times New Roman"/>
                <a:sym typeface="Times New Roman"/>
              </a:rPr>
              <a:t>KNN classifier operates by classifying the data point based on the majority class of its nearest neighbors in the feature space. </a:t>
            </a:r>
            <a:endParaRPr/>
          </a:p>
          <a:p>
            <a:pPr indent="-306000" lvl="0" marL="306000" rtl="0" algn="just">
              <a:spcBef>
                <a:spcPts val="880"/>
              </a:spcBef>
              <a:spcAft>
                <a:spcPts val="0"/>
              </a:spcAft>
              <a:buSzPts val="1288"/>
              <a:buFont typeface="Courier New"/>
              <a:buChar char="o"/>
            </a:pPr>
            <a:r>
              <a:rPr lang="en-US" sz="1400">
                <a:latin typeface="Times New Roman"/>
                <a:ea typeface="Times New Roman"/>
                <a:cs typeface="Times New Roman"/>
                <a:sym typeface="Times New Roman"/>
              </a:rPr>
              <a:t>In essence, the KNN classifier assigns the class label of the majority of its k nearest neighbors to the new data point, making it a non-parametric and instance-based learning method.</a:t>
            </a:r>
            <a:endParaRPr/>
          </a:p>
        </p:txBody>
      </p:sp>
      <p:pic>
        <p:nvPicPr>
          <p:cNvPr id="156" name="Google Shape;156;p19"/>
          <p:cNvPicPr preferRelativeResize="0"/>
          <p:nvPr/>
        </p:nvPicPr>
        <p:blipFill rotWithShape="1">
          <a:blip r:embed="rId3">
            <a:alphaModFix/>
          </a:blip>
          <a:srcRect b="35357" l="0" r="0" t="19179"/>
          <a:stretch/>
        </p:blipFill>
        <p:spPr>
          <a:xfrm>
            <a:off x="4091259" y="3429000"/>
            <a:ext cx="4009480" cy="2578181"/>
          </a:xfrm>
          <a:prstGeom prst="rect">
            <a:avLst/>
          </a:prstGeom>
          <a:noFill/>
          <a:ln>
            <a:noFill/>
          </a:ln>
        </p:spPr>
      </p:pic>
      <p:sp>
        <p:nvSpPr>
          <p:cNvPr id="157" name="Google Shape;157;p19"/>
          <p:cNvSpPr txBox="1"/>
          <p:nvPr/>
        </p:nvSpPr>
        <p:spPr>
          <a:xfrm>
            <a:off x="581192" y="5685956"/>
            <a:ext cx="11029615" cy="939776"/>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New datapoint to be classified is introduced into the KNN classifier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0"/>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3200"/>
              <a:buFont typeface="Gill Sans"/>
              <a:buNone/>
            </a:pPr>
            <a:r>
              <a:rPr lang="en-US" sz="3200" cap="none"/>
              <a:t>Important Parameters in KNN Classifier</a:t>
            </a:r>
            <a:endParaRPr/>
          </a:p>
        </p:txBody>
      </p:sp>
      <p:sp>
        <p:nvSpPr>
          <p:cNvPr id="163" name="Google Shape;163;p20"/>
          <p:cNvSpPr txBox="1"/>
          <p:nvPr>
            <p:ph idx="1" type="body"/>
          </p:nvPr>
        </p:nvSpPr>
        <p:spPr>
          <a:xfrm>
            <a:off x="581192" y="1991960"/>
            <a:ext cx="10589571" cy="3814951"/>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SzPts val="1288"/>
              <a:buNone/>
            </a:pPr>
            <a:r>
              <a:rPr lang="en-US" sz="1400">
                <a:latin typeface="Times New Roman"/>
                <a:ea typeface="Times New Roman"/>
                <a:cs typeface="Times New Roman"/>
                <a:sym typeface="Times New Roman"/>
              </a:rPr>
              <a:t>The working of a KNN classifier depends on multiple parameters as explained below:</a:t>
            </a:r>
            <a:endParaRPr/>
          </a:p>
          <a:p>
            <a:pPr indent="-342900" lvl="0" marL="342900" rtl="0" algn="just">
              <a:spcBef>
                <a:spcPts val="880"/>
              </a:spcBef>
              <a:spcAft>
                <a:spcPts val="0"/>
              </a:spcAft>
              <a:buSzPts val="1288"/>
              <a:buFont typeface="Gill Sans"/>
              <a:buAutoNum type="arabicPeriod"/>
            </a:pPr>
            <a:r>
              <a:rPr b="1" lang="en-US" sz="1400">
                <a:latin typeface="Times New Roman"/>
                <a:ea typeface="Times New Roman"/>
                <a:cs typeface="Times New Roman"/>
                <a:sym typeface="Times New Roman"/>
              </a:rPr>
              <a:t>Value of K: </a:t>
            </a:r>
            <a:r>
              <a:rPr lang="en-US" sz="1400">
                <a:latin typeface="Times New Roman"/>
                <a:ea typeface="Times New Roman"/>
                <a:cs typeface="Times New Roman"/>
                <a:sym typeface="Times New Roman"/>
              </a:rPr>
              <a:t>The choice of K in the K-nearest neighbors (KNN) classifier influences the prediction by considering a specified number of neighboring data points. Odd values are often favored to prevent tie situations during voting, ensuring unambiguous class assignments.</a:t>
            </a:r>
            <a:endParaRPr/>
          </a:p>
          <a:p>
            <a:pPr indent="-342900" lvl="0" marL="342900" rtl="0" algn="just">
              <a:spcBef>
                <a:spcPts val="880"/>
              </a:spcBef>
              <a:spcAft>
                <a:spcPts val="0"/>
              </a:spcAft>
              <a:buSzPts val="1288"/>
              <a:buFont typeface="Gill Sans"/>
              <a:buAutoNum type="arabicPeriod"/>
            </a:pPr>
            <a:r>
              <a:rPr b="1" lang="en-US" sz="1400">
                <a:latin typeface="Times New Roman"/>
                <a:ea typeface="Times New Roman"/>
                <a:cs typeface="Times New Roman"/>
                <a:sym typeface="Times New Roman"/>
              </a:rPr>
              <a:t>Distance Metrics: </a:t>
            </a:r>
            <a:r>
              <a:rPr lang="en-US" sz="1400">
                <a:latin typeface="Times New Roman"/>
                <a:ea typeface="Times New Roman"/>
                <a:cs typeface="Times New Roman"/>
                <a:sym typeface="Times New Roman"/>
              </a:rPr>
              <a:t>The distance metric in K-nearest neighbors (KNN) classification defines how distances between the two data points are measured, We've employed the Euclidean distance method, one of several available, to measure distances between data points, which is given by:</a:t>
            </a:r>
            <a:endParaRPr/>
          </a:p>
          <a:p>
            <a:pPr indent="-261112" lvl="0" marL="342900" rtl="0" algn="just">
              <a:spcBef>
                <a:spcPts val="880"/>
              </a:spcBef>
              <a:spcAft>
                <a:spcPts val="0"/>
              </a:spcAft>
              <a:buSzPts val="1288"/>
              <a:buFont typeface="Gill Sans"/>
              <a:buNone/>
            </a:pPr>
            <a:r>
              <a:t/>
            </a:r>
            <a:endParaRPr sz="1400">
              <a:latin typeface="Times New Roman"/>
              <a:ea typeface="Times New Roman"/>
              <a:cs typeface="Times New Roman"/>
              <a:sym typeface="Times New Roman"/>
            </a:endParaRPr>
          </a:p>
          <a:p>
            <a:pPr indent="-261112" lvl="0" marL="342900" rtl="0" algn="just">
              <a:spcBef>
                <a:spcPts val="880"/>
              </a:spcBef>
              <a:spcAft>
                <a:spcPts val="0"/>
              </a:spcAft>
              <a:buSzPts val="1288"/>
              <a:buFont typeface="Gill Sans"/>
              <a:buNone/>
            </a:pPr>
            <a:r>
              <a:t/>
            </a:r>
            <a:endParaRPr sz="1400">
              <a:latin typeface="Times New Roman"/>
              <a:ea typeface="Times New Roman"/>
              <a:cs typeface="Times New Roman"/>
              <a:sym typeface="Times New Roman"/>
            </a:endParaRPr>
          </a:p>
          <a:p>
            <a:pPr indent="-342900" lvl="0" marL="342900" rtl="0" algn="just">
              <a:spcBef>
                <a:spcPts val="880"/>
              </a:spcBef>
              <a:spcAft>
                <a:spcPts val="0"/>
              </a:spcAft>
              <a:buSzPts val="1288"/>
              <a:buFont typeface="Gill Sans"/>
              <a:buAutoNum type="arabicPeriod"/>
            </a:pPr>
            <a:r>
              <a:rPr b="1" lang="en-US" sz="1400">
                <a:latin typeface="Times New Roman"/>
                <a:ea typeface="Times New Roman"/>
                <a:cs typeface="Times New Roman"/>
                <a:sym typeface="Times New Roman"/>
              </a:rPr>
              <a:t>Voting Scheme: </a:t>
            </a:r>
            <a:r>
              <a:rPr lang="en-US" sz="1400">
                <a:latin typeface="Times New Roman"/>
                <a:ea typeface="Times New Roman"/>
                <a:cs typeface="Times New Roman"/>
                <a:sym typeface="Times New Roman"/>
              </a:rPr>
              <a:t>In the k-nearest neighbors (kNN) algorithm, the voting scheme involves assigning a class label to a data point based on a majority or weighted vote from its k nearest neighbors.</a:t>
            </a:r>
            <a:endParaRPr/>
          </a:p>
          <a:p>
            <a:pPr indent="-342900" lvl="0" marL="342900" rtl="0" algn="just">
              <a:spcBef>
                <a:spcPts val="880"/>
              </a:spcBef>
              <a:spcAft>
                <a:spcPts val="0"/>
              </a:spcAft>
              <a:buSzPts val="1288"/>
              <a:buFont typeface="Gill Sans"/>
              <a:buAutoNum type="arabicPeriod"/>
            </a:pPr>
            <a:r>
              <a:rPr b="1" lang="en-US" sz="1400">
                <a:latin typeface="Times New Roman"/>
                <a:ea typeface="Times New Roman"/>
                <a:cs typeface="Times New Roman"/>
                <a:sym typeface="Times New Roman"/>
              </a:rPr>
              <a:t>Cross-Validation Parameters: </a:t>
            </a:r>
            <a:r>
              <a:rPr lang="en-US" sz="1400">
                <a:latin typeface="Times New Roman"/>
                <a:ea typeface="Times New Roman"/>
                <a:cs typeface="Times New Roman"/>
                <a:sym typeface="Times New Roman"/>
              </a:rPr>
              <a:t>Cross-validation parameters, including the number of folds and scoring metric choice, are crucial for evaluating the KNN classifier's performance and preventing overfitting.</a:t>
            </a:r>
            <a:endParaRPr/>
          </a:p>
        </p:txBody>
      </p:sp>
      <p:sp>
        <p:nvSpPr>
          <p:cNvPr id="164" name="Google Shape;164;p20"/>
          <p:cNvSpPr txBox="1"/>
          <p:nvPr/>
        </p:nvSpPr>
        <p:spPr>
          <a:xfrm>
            <a:off x="581192" y="5685956"/>
            <a:ext cx="11029615" cy="939776"/>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t/>
            </a:r>
            <a:endParaRPr sz="1200">
              <a:solidFill>
                <a:schemeClr val="dk2"/>
              </a:solidFill>
              <a:latin typeface="Gill Sans"/>
              <a:ea typeface="Gill Sans"/>
              <a:cs typeface="Gill Sans"/>
              <a:sym typeface="Gill Sans"/>
            </a:endParaRPr>
          </a:p>
        </p:txBody>
      </p:sp>
      <p:sp>
        <p:nvSpPr>
          <p:cNvPr id="165" name="Google Shape;165;p20"/>
          <p:cNvSpPr txBox="1"/>
          <p:nvPr/>
        </p:nvSpPr>
        <p:spPr>
          <a:xfrm>
            <a:off x="4138366" y="3690357"/>
            <a:ext cx="2992223" cy="1041899"/>
          </a:xfrm>
          <a:prstGeom prst="rect">
            <a:avLst/>
          </a:prstGeom>
          <a:blipFill rotWithShape="1">
            <a:blip r:embed="rId3">
              <a:alphaModFix/>
            </a:blip>
            <a:stretch>
              <a:fillRect b="-12278"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Gill Sans"/>
                <a:ea typeface="Gill Sans"/>
                <a:cs typeface="Gill Sans"/>
                <a:sym typeface="Gill Sans"/>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KNN Classifier Working Principle</a:t>
            </a:r>
            <a:endParaRPr/>
          </a:p>
        </p:txBody>
      </p:sp>
      <p:sp>
        <p:nvSpPr>
          <p:cNvPr id="171" name="Google Shape;171;p21"/>
          <p:cNvSpPr txBox="1"/>
          <p:nvPr>
            <p:ph idx="1" type="body"/>
          </p:nvPr>
        </p:nvSpPr>
        <p:spPr>
          <a:xfrm>
            <a:off x="581192" y="1825659"/>
            <a:ext cx="4650684" cy="1013800"/>
          </a:xfrm>
          <a:prstGeom prst="rect">
            <a:avLst/>
          </a:prstGeom>
          <a:noFill/>
          <a:ln>
            <a:noFill/>
          </a:ln>
        </p:spPr>
        <p:txBody>
          <a:bodyPr anchorCtr="0" anchor="ctr" bIns="45700" lIns="91425" spcFirstLastPara="1" rIns="91425" wrap="square" tIns="45700">
            <a:normAutofit/>
          </a:bodyPr>
          <a:lstStyle/>
          <a:p>
            <a:pPr indent="-306000" lvl="0" marL="306000" rtl="0" algn="l">
              <a:spcBef>
                <a:spcPts val="0"/>
              </a:spcBef>
              <a:spcAft>
                <a:spcPts val="0"/>
              </a:spcAft>
              <a:buSzPts val="1656"/>
              <a:buChar char="◼"/>
            </a:pPr>
            <a:r>
              <a:rPr lang="en-US">
                <a:latin typeface="Times New Roman"/>
                <a:ea typeface="Times New Roman"/>
                <a:cs typeface="Times New Roman"/>
                <a:sym typeface="Times New Roman"/>
              </a:rPr>
              <a:t>Step 1: Selecting the value of K for KNN</a:t>
            </a:r>
            <a:endParaRPr/>
          </a:p>
        </p:txBody>
      </p:sp>
      <p:pic>
        <p:nvPicPr>
          <p:cNvPr id="172" name="Google Shape;172;p21"/>
          <p:cNvPicPr preferRelativeResize="0"/>
          <p:nvPr/>
        </p:nvPicPr>
        <p:blipFill rotWithShape="1">
          <a:blip r:embed="rId3">
            <a:alphaModFix/>
          </a:blip>
          <a:srcRect b="25613" l="0" r="0" t="16737"/>
          <a:stretch/>
        </p:blipFill>
        <p:spPr>
          <a:xfrm>
            <a:off x="1895420" y="2509520"/>
            <a:ext cx="2082692" cy="1685408"/>
          </a:xfrm>
          <a:prstGeom prst="rect">
            <a:avLst/>
          </a:prstGeom>
          <a:noFill/>
          <a:ln>
            <a:noFill/>
          </a:ln>
        </p:spPr>
      </p:pic>
      <p:sp>
        <p:nvSpPr>
          <p:cNvPr id="173" name="Google Shape;173;p21"/>
          <p:cNvSpPr txBox="1"/>
          <p:nvPr/>
        </p:nvSpPr>
        <p:spPr>
          <a:xfrm>
            <a:off x="5888548" y="1825659"/>
            <a:ext cx="5159666" cy="1013800"/>
          </a:xfrm>
          <a:prstGeom prst="rect">
            <a:avLst/>
          </a:prstGeom>
          <a:noFill/>
          <a:ln>
            <a:noFill/>
          </a:ln>
        </p:spPr>
        <p:txBody>
          <a:bodyPr anchorCtr="0" anchor="ctr" bIns="45700" lIns="91425" spcFirstLastPara="1" rIns="91425" wrap="square" tIns="45700">
            <a:normAutofit/>
          </a:bodyPr>
          <a:lstStyle/>
          <a:p>
            <a:pPr indent="-306000" lvl="0" marL="306000" marR="0" rtl="0" algn="l">
              <a:spcBef>
                <a:spcPts val="0"/>
              </a:spcBef>
              <a:spcAft>
                <a:spcPts val="0"/>
              </a:spcAft>
              <a:buClr>
                <a:schemeClr val="accent2"/>
              </a:buClr>
              <a:buSzPts val="1656"/>
              <a:buFont typeface="Noto Sans Symbols"/>
              <a:buChar char="◼"/>
            </a:pPr>
            <a:r>
              <a:rPr lang="en-US" sz="1800">
                <a:solidFill>
                  <a:schemeClr val="dk2"/>
                </a:solidFill>
                <a:latin typeface="Times New Roman"/>
                <a:ea typeface="Times New Roman"/>
                <a:cs typeface="Times New Roman"/>
                <a:sym typeface="Times New Roman"/>
              </a:rPr>
              <a:t>Step 2: Distance calculation for each data point</a:t>
            </a:r>
            <a:endParaRPr/>
          </a:p>
        </p:txBody>
      </p:sp>
      <p:pic>
        <p:nvPicPr>
          <p:cNvPr id="174" name="Google Shape;174;p21"/>
          <p:cNvPicPr preferRelativeResize="0"/>
          <p:nvPr/>
        </p:nvPicPr>
        <p:blipFill rotWithShape="1">
          <a:blip r:embed="rId4">
            <a:alphaModFix/>
          </a:blip>
          <a:srcRect b="32238" l="0" r="0" t="16271"/>
          <a:stretch/>
        </p:blipFill>
        <p:spPr>
          <a:xfrm>
            <a:off x="7338081" y="2549008"/>
            <a:ext cx="2260600" cy="1645920"/>
          </a:xfrm>
          <a:prstGeom prst="rect">
            <a:avLst/>
          </a:prstGeom>
          <a:noFill/>
          <a:ln>
            <a:noFill/>
          </a:ln>
        </p:spPr>
      </p:pic>
      <p:sp>
        <p:nvSpPr>
          <p:cNvPr id="175" name="Google Shape;175;p21"/>
          <p:cNvSpPr txBox="1"/>
          <p:nvPr/>
        </p:nvSpPr>
        <p:spPr>
          <a:xfrm>
            <a:off x="581191" y="4194928"/>
            <a:ext cx="5056037" cy="1013800"/>
          </a:xfrm>
          <a:prstGeom prst="rect">
            <a:avLst/>
          </a:prstGeom>
          <a:noFill/>
          <a:ln>
            <a:noFill/>
          </a:ln>
        </p:spPr>
        <p:txBody>
          <a:bodyPr anchorCtr="0" anchor="ctr" bIns="45700" lIns="91425" spcFirstLastPara="1" rIns="91425" wrap="square" tIns="45700">
            <a:normAutofit/>
          </a:bodyPr>
          <a:lstStyle/>
          <a:p>
            <a:pPr indent="-306000" lvl="0" marL="306000" marR="0" rtl="0" algn="l">
              <a:spcBef>
                <a:spcPts val="0"/>
              </a:spcBef>
              <a:spcAft>
                <a:spcPts val="0"/>
              </a:spcAft>
              <a:buClr>
                <a:schemeClr val="accent2"/>
              </a:buClr>
              <a:buSzPts val="1656"/>
              <a:buFont typeface="Noto Sans Symbols"/>
              <a:buChar char="◼"/>
            </a:pPr>
            <a:r>
              <a:rPr lang="en-US" sz="1800">
                <a:solidFill>
                  <a:schemeClr val="dk2"/>
                </a:solidFill>
                <a:latin typeface="Times New Roman"/>
                <a:ea typeface="Times New Roman"/>
                <a:cs typeface="Times New Roman"/>
                <a:sym typeface="Times New Roman"/>
              </a:rPr>
              <a:t>Step 3: Voting and Prediction for new data point</a:t>
            </a:r>
            <a:endParaRPr/>
          </a:p>
        </p:txBody>
      </p:sp>
      <p:pic>
        <p:nvPicPr>
          <p:cNvPr id="176" name="Google Shape;176;p21"/>
          <p:cNvPicPr preferRelativeResize="0"/>
          <p:nvPr/>
        </p:nvPicPr>
        <p:blipFill rotWithShape="1">
          <a:blip r:embed="rId5">
            <a:alphaModFix/>
          </a:blip>
          <a:srcRect b="35088" l="0" r="0" t="19580"/>
          <a:stretch/>
        </p:blipFill>
        <p:spPr>
          <a:xfrm>
            <a:off x="1764556" y="5004590"/>
            <a:ext cx="2344420" cy="1503045"/>
          </a:xfrm>
          <a:prstGeom prst="rect">
            <a:avLst/>
          </a:prstGeom>
          <a:noFill/>
          <a:ln>
            <a:noFill/>
          </a:ln>
        </p:spPr>
      </p:pic>
      <p:sp>
        <p:nvSpPr>
          <p:cNvPr id="177" name="Google Shape;177;p21"/>
          <p:cNvSpPr txBox="1"/>
          <p:nvPr/>
        </p:nvSpPr>
        <p:spPr>
          <a:xfrm>
            <a:off x="5888548" y="4194928"/>
            <a:ext cx="5451897" cy="1013800"/>
          </a:xfrm>
          <a:prstGeom prst="rect">
            <a:avLst/>
          </a:prstGeom>
          <a:noFill/>
          <a:ln>
            <a:noFill/>
          </a:ln>
        </p:spPr>
        <p:txBody>
          <a:bodyPr anchorCtr="0" anchor="ctr" bIns="45700" lIns="91425" spcFirstLastPara="1" rIns="91425" wrap="square" tIns="45700">
            <a:normAutofit/>
          </a:bodyPr>
          <a:lstStyle/>
          <a:p>
            <a:pPr indent="-306000" lvl="0" marL="306000" marR="0" rtl="0" algn="l">
              <a:spcBef>
                <a:spcPts val="0"/>
              </a:spcBef>
              <a:spcAft>
                <a:spcPts val="0"/>
              </a:spcAft>
              <a:buClr>
                <a:schemeClr val="accent2"/>
              </a:buClr>
              <a:buSzPts val="1656"/>
              <a:buFont typeface="Noto Sans Symbols"/>
              <a:buChar char="◼"/>
            </a:pPr>
            <a:r>
              <a:rPr lang="en-US" sz="1800">
                <a:solidFill>
                  <a:schemeClr val="dk2"/>
                </a:solidFill>
                <a:latin typeface="Times New Roman"/>
                <a:ea typeface="Times New Roman"/>
                <a:cs typeface="Times New Roman"/>
                <a:sym typeface="Times New Roman"/>
              </a:rPr>
              <a:t>Step 4:  Predicting the Class of the new data point</a:t>
            </a:r>
            <a:endParaRPr/>
          </a:p>
        </p:txBody>
      </p:sp>
      <p:pic>
        <p:nvPicPr>
          <p:cNvPr id="178" name="Google Shape;178;p21"/>
          <p:cNvPicPr preferRelativeResize="0"/>
          <p:nvPr/>
        </p:nvPicPr>
        <p:blipFill rotWithShape="1">
          <a:blip r:embed="rId6">
            <a:alphaModFix/>
          </a:blip>
          <a:srcRect b="35958" l="0" r="0" t="20129"/>
          <a:stretch/>
        </p:blipFill>
        <p:spPr>
          <a:xfrm>
            <a:off x="7229496" y="4995163"/>
            <a:ext cx="2477770" cy="1539240"/>
          </a:xfrm>
          <a:prstGeom prst="rect">
            <a:avLst/>
          </a:prstGeom>
          <a:noFill/>
          <a:ln>
            <a:noFill/>
          </a:ln>
        </p:spPr>
      </p:pic>
      <p:sp>
        <p:nvSpPr>
          <p:cNvPr id="179" name="Google Shape;179;p21"/>
          <p:cNvSpPr txBox="1"/>
          <p:nvPr/>
        </p:nvSpPr>
        <p:spPr>
          <a:xfrm>
            <a:off x="88236" y="4110972"/>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Impact of value k on KNN classification</a:t>
            </a:r>
            <a:endParaRPr/>
          </a:p>
        </p:txBody>
      </p:sp>
      <p:sp>
        <p:nvSpPr>
          <p:cNvPr id="180" name="Google Shape;180;p21"/>
          <p:cNvSpPr txBox="1"/>
          <p:nvPr/>
        </p:nvSpPr>
        <p:spPr>
          <a:xfrm>
            <a:off x="5765966" y="4068109"/>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Calculated distance for each data point</a:t>
            </a:r>
            <a:endParaRPr/>
          </a:p>
        </p:txBody>
      </p:sp>
      <p:sp>
        <p:nvSpPr>
          <p:cNvPr id="181" name="Google Shape;181;p21"/>
          <p:cNvSpPr txBox="1"/>
          <p:nvPr/>
        </p:nvSpPr>
        <p:spPr>
          <a:xfrm>
            <a:off x="88236" y="6341858"/>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Voting based on the distance calculated</a:t>
            </a:r>
            <a:endParaRPr/>
          </a:p>
        </p:txBody>
      </p:sp>
      <p:sp>
        <p:nvSpPr>
          <p:cNvPr id="182" name="Google Shape;182;p21"/>
          <p:cNvSpPr txBox="1"/>
          <p:nvPr/>
        </p:nvSpPr>
        <p:spPr>
          <a:xfrm>
            <a:off x="5638705" y="6340837"/>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Assignment of class after majority voting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Integration of HTM &amp; KNN with Neocortex API</a:t>
            </a:r>
            <a:endParaRPr/>
          </a:p>
        </p:txBody>
      </p:sp>
      <p:sp>
        <p:nvSpPr>
          <p:cNvPr id="188" name="Google Shape;188;p22"/>
          <p:cNvSpPr txBox="1"/>
          <p:nvPr>
            <p:ph idx="1" type="body"/>
          </p:nvPr>
        </p:nvSpPr>
        <p:spPr>
          <a:xfrm>
            <a:off x="581191" y="1948226"/>
            <a:ext cx="11029615" cy="937849"/>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288"/>
              <a:buNone/>
            </a:pPr>
            <a:r>
              <a:rPr lang="en-US" sz="1400">
                <a:latin typeface="Times New Roman"/>
                <a:ea typeface="Times New Roman"/>
                <a:cs typeface="Times New Roman"/>
                <a:sym typeface="Times New Roman"/>
              </a:rPr>
              <a:t>A comprehensive framework for sequence learning and classification incorporates input images, binarization,  encoder, Spatial Pooler, Hierarchical Temporal Memory (HTM) , and K-nearest neighbor (KNN) classifier. </a:t>
            </a:r>
            <a:endParaRPr sz="1400">
              <a:latin typeface="Times New Roman"/>
              <a:ea typeface="Times New Roman"/>
              <a:cs typeface="Times New Roman"/>
              <a:sym typeface="Times New Roman"/>
            </a:endParaRPr>
          </a:p>
        </p:txBody>
      </p:sp>
      <p:sp>
        <p:nvSpPr>
          <p:cNvPr id="189" name="Google Shape;189;p22"/>
          <p:cNvSpPr txBox="1"/>
          <p:nvPr/>
        </p:nvSpPr>
        <p:spPr>
          <a:xfrm>
            <a:off x="2849095" y="5999604"/>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HTM and KNN classifiers integration with Neocortex API</a:t>
            </a:r>
            <a:endParaRPr/>
          </a:p>
        </p:txBody>
      </p:sp>
      <p:pic>
        <p:nvPicPr>
          <p:cNvPr descr="A diagram of a process" id="190" name="Google Shape;190;p22"/>
          <p:cNvPicPr preferRelativeResize="0"/>
          <p:nvPr/>
        </p:nvPicPr>
        <p:blipFill rotWithShape="1">
          <a:blip r:embed="rId3">
            <a:alphaModFix/>
          </a:blip>
          <a:srcRect b="22191" l="7863" r="13011" t="10302"/>
          <a:stretch/>
        </p:blipFill>
        <p:spPr>
          <a:xfrm>
            <a:off x="1601108" y="2812027"/>
            <a:ext cx="7198764" cy="319548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Results and Unit Test for Native HTM and KNN Classifier</a:t>
            </a:r>
            <a:endParaRPr/>
          </a:p>
        </p:txBody>
      </p:sp>
      <p:pic>
        <p:nvPicPr>
          <p:cNvPr id="196" name="Google Shape;196;p23"/>
          <p:cNvPicPr preferRelativeResize="0"/>
          <p:nvPr>
            <p:ph idx="1" type="body"/>
          </p:nvPr>
        </p:nvPicPr>
        <p:blipFill rotWithShape="1">
          <a:blip r:embed="rId3">
            <a:alphaModFix/>
          </a:blip>
          <a:srcRect b="0" l="0" r="0" t="0"/>
          <a:stretch/>
        </p:blipFill>
        <p:spPr>
          <a:xfrm>
            <a:off x="581191" y="2869381"/>
            <a:ext cx="5084317" cy="2598165"/>
          </a:xfrm>
          <a:prstGeom prst="rect">
            <a:avLst/>
          </a:prstGeom>
          <a:noFill/>
          <a:ln>
            <a:noFill/>
          </a:ln>
        </p:spPr>
      </p:pic>
      <p:sp>
        <p:nvSpPr>
          <p:cNvPr id="197" name="Google Shape;197;p23"/>
          <p:cNvSpPr txBox="1"/>
          <p:nvPr/>
        </p:nvSpPr>
        <p:spPr>
          <a:xfrm>
            <a:off x="0" y="5638776"/>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Native HTM &amp; KNN Classifier Output</a:t>
            </a:r>
            <a:endParaRPr sz="1200">
              <a:solidFill>
                <a:schemeClr val="dk2"/>
              </a:solidFill>
              <a:latin typeface="Times New Roman"/>
              <a:ea typeface="Times New Roman"/>
              <a:cs typeface="Times New Roman"/>
              <a:sym typeface="Times New Roman"/>
            </a:endParaRPr>
          </a:p>
        </p:txBody>
      </p:sp>
      <p:pic>
        <p:nvPicPr>
          <p:cNvPr id="198" name="Google Shape;198;p23"/>
          <p:cNvPicPr preferRelativeResize="0"/>
          <p:nvPr/>
        </p:nvPicPr>
        <p:blipFill rotWithShape="1">
          <a:blip r:embed="rId4">
            <a:alphaModFix/>
          </a:blip>
          <a:srcRect b="0" l="0" r="0" t="0"/>
          <a:stretch/>
        </p:blipFill>
        <p:spPr>
          <a:xfrm>
            <a:off x="6526491" y="2869381"/>
            <a:ext cx="5084317" cy="2598165"/>
          </a:xfrm>
          <a:prstGeom prst="rect">
            <a:avLst/>
          </a:prstGeom>
          <a:noFill/>
          <a:ln>
            <a:noFill/>
          </a:ln>
        </p:spPr>
      </p:pic>
      <p:sp>
        <p:nvSpPr>
          <p:cNvPr id="199" name="Google Shape;199;p23"/>
          <p:cNvSpPr txBox="1"/>
          <p:nvPr/>
        </p:nvSpPr>
        <p:spPr>
          <a:xfrm>
            <a:off x="5913748" y="5638776"/>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Unit Tests for Native HTM &amp; KNN Classifier</a:t>
            </a:r>
            <a:endParaRPr sz="1200">
              <a:solidFill>
                <a:schemeClr val="dk2"/>
              </a:solidFill>
              <a:latin typeface="Times New Roman"/>
              <a:ea typeface="Times New Roman"/>
              <a:cs typeface="Times New Roman"/>
              <a:sym typeface="Times New Roman"/>
            </a:endParaRPr>
          </a:p>
        </p:txBody>
      </p:sp>
      <p:sp>
        <p:nvSpPr>
          <p:cNvPr id="200" name="Google Shape;200;p23"/>
          <p:cNvSpPr txBox="1"/>
          <p:nvPr/>
        </p:nvSpPr>
        <p:spPr>
          <a:xfrm>
            <a:off x="485941" y="1887186"/>
            <a:ext cx="11029615" cy="939776"/>
          </a:xfrm>
          <a:prstGeom prst="rect">
            <a:avLst/>
          </a:prstGeom>
          <a:noFill/>
          <a:ln>
            <a:noFill/>
          </a:ln>
        </p:spPr>
        <p:txBody>
          <a:bodyPr anchorCtr="0" anchor="ctr" bIns="45700" lIns="91425" spcFirstLastPara="1" rIns="91425" wrap="square" tIns="45700">
            <a:normAutofit/>
          </a:bodyPr>
          <a:lstStyle/>
          <a:p>
            <a:pPr indent="0" lvl="0" marL="0" marR="0" rtl="0" algn="just">
              <a:spcBef>
                <a:spcPts val="0"/>
              </a:spcBef>
              <a:spcAft>
                <a:spcPts val="0"/>
              </a:spcAft>
              <a:buClr>
                <a:schemeClr val="accent2"/>
              </a:buClr>
              <a:buSzPts val="1288"/>
              <a:buFont typeface="Noto Sans Symbols"/>
              <a:buNone/>
            </a:pPr>
            <a:r>
              <a:rPr lang="en-US" sz="1400">
                <a:solidFill>
                  <a:schemeClr val="dk2"/>
                </a:solidFill>
                <a:latin typeface="Times New Roman"/>
                <a:ea typeface="Times New Roman"/>
                <a:cs typeface="Times New Roman"/>
                <a:sym typeface="Times New Roman"/>
              </a:rPr>
              <a:t>The model takes two dimensional data points with three different classes and classifies the new data point using the KNN classifier.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Results and Unit Test for HTM &amp; KNN integrated with Neocortex API</a:t>
            </a:r>
            <a:endParaRPr/>
          </a:p>
        </p:txBody>
      </p:sp>
      <p:pic>
        <p:nvPicPr>
          <p:cNvPr id="206" name="Google Shape;206;p24"/>
          <p:cNvPicPr preferRelativeResize="0"/>
          <p:nvPr>
            <p:ph idx="1" type="body"/>
          </p:nvPr>
        </p:nvPicPr>
        <p:blipFill rotWithShape="1">
          <a:blip r:embed="rId3">
            <a:alphaModFix/>
          </a:blip>
          <a:srcRect b="0" l="0" r="0" t="5635"/>
          <a:stretch/>
        </p:blipFill>
        <p:spPr>
          <a:xfrm>
            <a:off x="1295594" y="2219325"/>
            <a:ext cx="3870294" cy="3794975"/>
          </a:xfrm>
          <a:prstGeom prst="rect">
            <a:avLst/>
          </a:prstGeom>
          <a:noFill/>
          <a:ln>
            <a:noFill/>
          </a:ln>
        </p:spPr>
      </p:pic>
      <p:sp>
        <p:nvSpPr>
          <p:cNvPr id="207" name="Google Shape;207;p24"/>
          <p:cNvSpPr txBox="1"/>
          <p:nvPr/>
        </p:nvSpPr>
        <p:spPr>
          <a:xfrm>
            <a:off x="-215901" y="6014300"/>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KNN classifier integration with Neocortex API</a:t>
            </a:r>
            <a:endParaRPr/>
          </a:p>
        </p:txBody>
      </p:sp>
      <p:pic>
        <p:nvPicPr>
          <p:cNvPr id="208" name="Google Shape;208;p24"/>
          <p:cNvPicPr preferRelativeResize="0"/>
          <p:nvPr/>
        </p:nvPicPr>
        <p:blipFill rotWithShape="1">
          <a:blip r:embed="rId4">
            <a:alphaModFix/>
          </a:blip>
          <a:srcRect b="0" l="0" r="0" t="0"/>
          <a:stretch/>
        </p:blipFill>
        <p:spPr>
          <a:xfrm>
            <a:off x="5264864" y="2891530"/>
            <a:ext cx="6129649" cy="3122770"/>
          </a:xfrm>
          <a:prstGeom prst="rect">
            <a:avLst/>
          </a:prstGeom>
          <a:noFill/>
          <a:ln>
            <a:noFill/>
          </a:ln>
        </p:spPr>
      </p:pic>
      <p:sp>
        <p:nvSpPr>
          <p:cNvPr id="209" name="Google Shape;209;p24"/>
          <p:cNvSpPr txBox="1"/>
          <p:nvPr/>
        </p:nvSpPr>
        <p:spPr>
          <a:xfrm>
            <a:off x="5697453" y="6014300"/>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Unit tests for HTM &amp; KNN classifier with Neocortex API</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5"/>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KNN classifier with Spatial Pooler generated SDRs</a:t>
            </a:r>
            <a:endParaRPr/>
          </a:p>
        </p:txBody>
      </p:sp>
      <p:sp>
        <p:nvSpPr>
          <p:cNvPr id="215" name="Google Shape;215;p25"/>
          <p:cNvSpPr txBox="1"/>
          <p:nvPr>
            <p:ph idx="1" type="body"/>
          </p:nvPr>
        </p:nvSpPr>
        <p:spPr>
          <a:xfrm>
            <a:off x="581192" y="1990725"/>
            <a:ext cx="5771483" cy="3714749"/>
          </a:xfrm>
          <a:prstGeom prst="rect">
            <a:avLst/>
          </a:prstGeom>
          <a:noFill/>
          <a:ln>
            <a:noFill/>
          </a:ln>
        </p:spPr>
        <p:txBody>
          <a:bodyPr anchorCtr="0" anchor="ctr" bIns="45700" lIns="91425" spcFirstLastPara="1" rIns="91425" wrap="square" tIns="45700">
            <a:normAutofit/>
          </a:bodyPr>
          <a:lstStyle/>
          <a:p>
            <a:pPr indent="-306000" lvl="0" marL="306000" rtl="0" algn="just">
              <a:spcBef>
                <a:spcPts val="0"/>
              </a:spcBef>
              <a:spcAft>
                <a:spcPts val="0"/>
              </a:spcAft>
              <a:buSzPts val="1104"/>
              <a:buFont typeface="Courier New"/>
              <a:buChar char="o"/>
            </a:pPr>
            <a:r>
              <a:rPr lang="en-US" sz="1200">
                <a:latin typeface="Times New Roman"/>
                <a:ea typeface="Times New Roman"/>
                <a:cs typeface="Times New Roman"/>
                <a:sym typeface="Times New Roman"/>
              </a:rPr>
              <a:t>From the Spatial Pooler Learning Experiment, the dataset for SDRs is obtained and split into 80% and 20% for training and testing respectively.</a:t>
            </a:r>
            <a:endParaRPr/>
          </a:p>
          <a:p>
            <a:pPr indent="-306000" lvl="0" marL="306000" rtl="0" algn="just">
              <a:spcBef>
                <a:spcPts val="840"/>
              </a:spcBef>
              <a:spcAft>
                <a:spcPts val="0"/>
              </a:spcAft>
              <a:buSzPts val="1104"/>
              <a:buFont typeface="Courier New"/>
              <a:buChar char="o"/>
            </a:pPr>
            <a:r>
              <a:rPr lang="en-US" sz="1200">
                <a:latin typeface="Times New Roman"/>
                <a:ea typeface="Times New Roman"/>
                <a:cs typeface="Times New Roman"/>
                <a:sym typeface="Times New Roman"/>
              </a:rPr>
              <a:t>5-fold cross validation is used to train a KNN classifier using the training data and evaluates its accuracy on the testing data to evaluate how it behaves on different folds of training and testing datasets.</a:t>
            </a:r>
            <a:endParaRPr/>
          </a:p>
          <a:p>
            <a:pPr indent="-306000" lvl="0" marL="306000" rtl="0" algn="just">
              <a:spcBef>
                <a:spcPts val="840"/>
              </a:spcBef>
              <a:spcAft>
                <a:spcPts val="0"/>
              </a:spcAft>
              <a:buSzPts val="1104"/>
              <a:buFont typeface="Courier New"/>
              <a:buChar char="o"/>
            </a:pPr>
            <a:r>
              <a:rPr lang="en-US" sz="1200">
                <a:latin typeface="Times New Roman"/>
                <a:ea typeface="Times New Roman"/>
                <a:cs typeface="Times New Roman"/>
                <a:sym typeface="Times New Roman"/>
              </a:rPr>
              <a:t>The results obtained from the 5-fold cross-validation revealed a classification accuracy of 90%. This high accuracy level indicates the model's ability to make accurate predictions on unseen data instances across the different folds of the cross-validation process. </a:t>
            </a:r>
            <a:endParaRPr/>
          </a:p>
          <a:p>
            <a:pPr indent="-306000" lvl="0" marL="306000" rtl="0" algn="just">
              <a:spcBef>
                <a:spcPts val="840"/>
              </a:spcBef>
              <a:spcAft>
                <a:spcPts val="0"/>
              </a:spcAft>
              <a:buSzPts val="1104"/>
              <a:buFont typeface="Courier New"/>
              <a:buChar char="o"/>
            </a:pPr>
            <a:r>
              <a:rPr lang="en-US" sz="1200">
                <a:latin typeface="Times New Roman"/>
                <a:ea typeface="Times New Roman"/>
                <a:cs typeface="Times New Roman"/>
                <a:sym typeface="Times New Roman"/>
              </a:rPr>
              <a:t>The KNN classifier, after being trained on 80% of the dataset, is able to accurately predict the output of a new data point with 100% accuracy when value of k is 3 and wit 85% accuracy when the value of k is set to 6. </a:t>
            </a:r>
            <a:endParaRPr sz="1200">
              <a:latin typeface="Times New Roman"/>
              <a:ea typeface="Times New Roman"/>
              <a:cs typeface="Times New Roman"/>
              <a:sym typeface="Times New Roman"/>
            </a:endParaRPr>
          </a:p>
        </p:txBody>
      </p:sp>
      <p:sp>
        <p:nvSpPr>
          <p:cNvPr id="216" name="Google Shape;216;p25"/>
          <p:cNvSpPr txBox="1"/>
          <p:nvPr/>
        </p:nvSpPr>
        <p:spPr>
          <a:xfrm>
            <a:off x="6225228" y="6177752"/>
            <a:ext cx="5697060" cy="51706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Process diagram for KNN classification with SP generated SDRs</a:t>
            </a:r>
            <a:endParaRPr sz="1200">
              <a:solidFill>
                <a:schemeClr val="dk2"/>
              </a:solidFill>
              <a:latin typeface="Gill Sans"/>
              <a:ea typeface="Gill Sans"/>
              <a:cs typeface="Gill Sans"/>
              <a:sym typeface="Gill Sans"/>
            </a:endParaRPr>
          </a:p>
        </p:txBody>
      </p:sp>
      <p:pic>
        <p:nvPicPr>
          <p:cNvPr id="217" name="Google Shape;217;p25"/>
          <p:cNvPicPr preferRelativeResize="0"/>
          <p:nvPr/>
        </p:nvPicPr>
        <p:blipFill rotWithShape="1">
          <a:blip r:embed="rId3">
            <a:alphaModFix/>
          </a:blip>
          <a:srcRect b="0" l="0" r="0" t="0"/>
          <a:stretch/>
        </p:blipFill>
        <p:spPr>
          <a:xfrm>
            <a:off x="7755521" y="1715956"/>
            <a:ext cx="2674974" cy="478668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HTM &amp; KNN Classifier with Spatial Pooler generated SDRs</a:t>
            </a:r>
            <a:endParaRPr/>
          </a:p>
        </p:txBody>
      </p:sp>
      <p:sp>
        <p:nvSpPr>
          <p:cNvPr id="223" name="Google Shape;223;p26"/>
          <p:cNvSpPr txBox="1"/>
          <p:nvPr/>
        </p:nvSpPr>
        <p:spPr>
          <a:xfrm>
            <a:off x="6525223" y="4993106"/>
            <a:ext cx="5059517" cy="360718"/>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KNN classifier prediction when SP generated SDRs are fed</a:t>
            </a:r>
            <a:endParaRPr sz="1200">
              <a:solidFill>
                <a:schemeClr val="dk2"/>
              </a:solidFill>
              <a:latin typeface="Gill Sans"/>
              <a:ea typeface="Gill Sans"/>
              <a:cs typeface="Gill Sans"/>
              <a:sym typeface="Gill Sans"/>
            </a:endParaRPr>
          </a:p>
        </p:txBody>
      </p:sp>
      <p:pic>
        <p:nvPicPr>
          <p:cNvPr id="224" name="Google Shape;224;p26"/>
          <p:cNvPicPr preferRelativeResize="0"/>
          <p:nvPr/>
        </p:nvPicPr>
        <p:blipFill rotWithShape="1">
          <a:blip r:embed="rId3">
            <a:alphaModFix/>
          </a:blip>
          <a:srcRect b="0" l="0" r="0" t="0"/>
          <a:stretch/>
        </p:blipFill>
        <p:spPr>
          <a:xfrm>
            <a:off x="6525223" y="2265711"/>
            <a:ext cx="4838614" cy="2615336"/>
          </a:xfrm>
          <a:prstGeom prst="rect">
            <a:avLst/>
          </a:prstGeom>
          <a:noFill/>
          <a:ln>
            <a:noFill/>
          </a:ln>
        </p:spPr>
      </p:pic>
      <p:sp>
        <p:nvSpPr>
          <p:cNvPr id="225" name="Google Shape;225;p26"/>
          <p:cNvSpPr txBox="1"/>
          <p:nvPr/>
        </p:nvSpPr>
        <p:spPr>
          <a:xfrm>
            <a:off x="1491915" y="5076825"/>
            <a:ext cx="321343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Results for 5-fold cross validation</a:t>
            </a:r>
            <a:endParaRPr sz="1200">
              <a:solidFill>
                <a:schemeClr val="dk1"/>
              </a:solidFill>
              <a:latin typeface="Gill Sans"/>
              <a:ea typeface="Gill Sans"/>
              <a:cs typeface="Gill Sans"/>
              <a:sym typeface="Gill Sans"/>
            </a:endParaRPr>
          </a:p>
        </p:txBody>
      </p:sp>
      <p:pic>
        <p:nvPicPr>
          <p:cNvPr id="226" name="Google Shape;226;p26"/>
          <p:cNvPicPr preferRelativeResize="0"/>
          <p:nvPr/>
        </p:nvPicPr>
        <p:blipFill rotWithShape="1">
          <a:blip r:embed="rId4">
            <a:alphaModFix/>
          </a:blip>
          <a:srcRect b="0" l="0" r="0" t="0"/>
          <a:stretch/>
        </p:blipFill>
        <p:spPr>
          <a:xfrm>
            <a:off x="828163" y="2216021"/>
            <a:ext cx="5205945" cy="26650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7"/>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HTM</a:t>
            </a:r>
            <a:r>
              <a:rPr lang="en-US"/>
              <a:t> </a:t>
            </a:r>
            <a:r>
              <a:rPr lang="en-US" cap="none"/>
              <a:t>classifier</a:t>
            </a:r>
            <a:r>
              <a:rPr lang="en-US"/>
              <a:t> </a:t>
            </a:r>
            <a:r>
              <a:rPr lang="en-US" cap="none"/>
              <a:t>with Spatial Pooler generated SDRs</a:t>
            </a:r>
            <a:endParaRPr/>
          </a:p>
        </p:txBody>
      </p:sp>
      <p:sp>
        <p:nvSpPr>
          <p:cNvPr id="232" name="Google Shape;232;p27"/>
          <p:cNvSpPr/>
          <p:nvPr/>
        </p:nvSpPr>
        <p:spPr>
          <a:xfrm>
            <a:off x="6765487" y="6187342"/>
            <a:ext cx="6096000" cy="27699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Times New Roman"/>
                <a:ea typeface="Times New Roman"/>
                <a:cs typeface="Times New Roman"/>
                <a:sym typeface="Times New Roman"/>
              </a:rPr>
              <a:t>Process diagram for HTM classification with SP generated SDRs</a:t>
            </a:r>
            <a:endParaRPr sz="1200">
              <a:solidFill>
                <a:schemeClr val="dk1"/>
              </a:solidFill>
              <a:latin typeface="Gill Sans"/>
              <a:ea typeface="Gill Sans"/>
              <a:cs typeface="Gill Sans"/>
              <a:sym typeface="Gill Sans"/>
            </a:endParaRPr>
          </a:p>
        </p:txBody>
      </p:sp>
      <p:pic>
        <p:nvPicPr>
          <p:cNvPr id="233" name="Google Shape;233;p27"/>
          <p:cNvPicPr preferRelativeResize="0"/>
          <p:nvPr>
            <p:ph idx="1" type="body"/>
          </p:nvPr>
        </p:nvPicPr>
        <p:blipFill rotWithShape="1">
          <a:blip r:embed="rId3">
            <a:alphaModFix/>
          </a:blip>
          <a:srcRect b="0" l="0" r="0" t="0"/>
          <a:stretch/>
        </p:blipFill>
        <p:spPr>
          <a:xfrm>
            <a:off x="8436960" y="1715957"/>
            <a:ext cx="2498773" cy="4471385"/>
          </a:xfrm>
          <a:prstGeom prst="rect">
            <a:avLst/>
          </a:prstGeom>
          <a:noFill/>
          <a:ln>
            <a:noFill/>
          </a:ln>
        </p:spPr>
      </p:pic>
      <p:sp>
        <p:nvSpPr>
          <p:cNvPr id="234" name="Google Shape;234;p27"/>
          <p:cNvSpPr txBox="1"/>
          <p:nvPr/>
        </p:nvSpPr>
        <p:spPr>
          <a:xfrm>
            <a:off x="581192" y="1990725"/>
            <a:ext cx="6984379" cy="4366532"/>
          </a:xfrm>
          <a:prstGeom prst="rect">
            <a:avLst/>
          </a:prstGeom>
          <a:noFill/>
          <a:ln>
            <a:noFill/>
          </a:ln>
        </p:spPr>
        <p:txBody>
          <a:bodyPr anchorCtr="0" anchor="ctr" bIns="45700" lIns="91425" spcFirstLastPara="1" rIns="91425" wrap="square" tIns="45700">
            <a:normAutofit/>
          </a:bodyPr>
          <a:lstStyle/>
          <a:p>
            <a:pPr indent="-306000" lvl="0" marL="306000" marR="0" rtl="0" algn="just">
              <a:spcBef>
                <a:spcPts val="0"/>
              </a:spcBef>
              <a:spcAft>
                <a:spcPts val="0"/>
              </a:spcAft>
              <a:buClr>
                <a:schemeClr val="accent2"/>
              </a:buClr>
              <a:buSzPts val="1104"/>
              <a:buFont typeface="Courier New"/>
              <a:buChar char="o"/>
            </a:pPr>
            <a:r>
              <a:rPr lang="en-US" sz="1200">
                <a:solidFill>
                  <a:schemeClr val="dk2"/>
                </a:solidFill>
                <a:latin typeface="Times New Roman"/>
                <a:ea typeface="Times New Roman"/>
                <a:cs typeface="Times New Roman"/>
                <a:sym typeface="Times New Roman"/>
              </a:rPr>
              <a:t>From the HTM-based classification experiment, a dataset of Sparse Distributed Representations (SDRs) was generated using the Spatial Pooler, capturing the essential patterns of input data. This SDR dataset was divided into 80% for training and 20% for testing.</a:t>
            </a:r>
            <a:endParaRPr/>
          </a:p>
          <a:p>
            <a:pPr indent="-306000" lvl="0" marL="306000" marR="0" rtl="0" algn="just">
              <a:spcBef>
                <a:spcPts val="840"/>
              </a:spcBef>
              <a:spcAft>
                <a:spcPts val="0"/>
              </a:spcAft>
              <a:buClr>
                <a:schemeClr val="accent2"/>
              </a:buClr>
              <a:buSzPts val="1104"/>
              <a:buFont typeface="Courier New"/>
              <a:buChar char="o"/>
            </a:pPr>
            <a:r>
              <a:rPr lang="en-US" sz="1200">
                <a:solidFill>
                  <a:schemeClr val="dk2"/>
                </a:solidFill>
                <a:latin typeface="Times New Roman"/>
                <a:ea typeface="Times New Roman"/>
                <a:cs typeface="Times New Roman"/>
                <a:sym typeface="Times New Roman"/>
              </a:rPr>
              <a:t>From the HTM-based classification experiment, a dataset of Sparse Distributed Representations (SDRs) was generated using the Spatial Pooler, capturing the essential patterns of input data. This SDR dataset was divided into 80% for training and 20% for testing.</a:t>
            </a:r>
            <a:endParaRPr/>
          </a:p>
          <a:p>
            <a:pPr indent="-306000" lvl="0" marL="306000" marR="0" rtl="0" algn="just">
              <a:spcBef>
                <a:spcPts val="840"/>
              </a:spcBef>
              <a:spcAft>
                <a:spcPts val="0"/>
              </a:spcAft>
              <a:buClr>
                <a:schemeClr val="accent2"/>
              </a:buClr>
              <a:buSzPts val="1104"/>
              <a:buFont typeface="Courier New"/>
              <a:buChar char="o"/>
            </a:pPr>
            <a:r>
              <a:rPr lang="en-US" sz="1200">
                <a:solidFill>
                  <a:schemeClr val="dk2"/>
                </a:solidFill>
                <a:latin typeface="Times New Roman"/>
                <a:ea typeface="Times New Roman"/>
                <a:cs typeface="Times New Roman"/>
                <a:sym typeface="Times New Roman"/>
              </a:rPr>
              <a:t>During evaluation, the classifier was tested on the 20% held-out test set. The classifier used its learned temporal memory to match the new input SDRs with known patterns and generate predictions based on past sequence context.</a:t>
            </a:r>
            <a:endParaRPr/>
          </a:p>
          <a:p>
            <a:pPr indent="-306000" lvl="0" marL="306000" marR="0" rtl="0" algn="just">
              <a:spcBef>
                <a:spcPts val="840"/>
              </a:spcBef>
              <a:spcAft>
                <a:spcPts val="0"/>
              </a:spcAft>
              <a:buClr>
                <a:schemeClr val="accent2"/>
              </a:buClr>
              <a:buSzPts val="1104"/>
              <a:buFont typeface="Courier New"/>
              <a:buChar char="o"/>
            </a:pPr>
            <a:r>
              <a:rPr lang="en-US" sz="1200">
                <a:solidFill>
                  <a:schemeClr val="dk2"/>
                </a:solidFill>
                <a:latin typeface="Times New Roman"/>
                <a:ea typeface="Times New Roman"/>
                <a:cs typeface="Times New Roman"/>
                <a:sym typeface="Times New Roman"/>
              </a:rPr>
              <a:t>The evaluation revealed that the HTM Classifier achieved a prediction accuracy of approximately 80-89%, showcasing its strong capability to generalize across unseen data. This level of accuracy reflects the classifier’s robustness in handling temporal patterns and sparse inputs, even with relatively limited training data.</a:t>
            </a:r>
            <a:endParaRPr/>
          </a:p>
          <a:p>
            <a:pPr indent="0" lvl="0" marL="0" marR="0" rtl="0" algn="l">
              <a:spcBef>
                <a:spcPts val="840"/>
              </a:spcBef>
              <a:spcAft>
                <a:spcPts val="0"/>
              </a:spcAft>
              <a:buClr>
                <a:schemeClr val="accent2"/>
              </a:buClr>
              <a:buSzPts val="1104"/>
              <a:buFont typeface="Noto Sans Symbols"/>
              <a:buNone/>
            </a:pPr>
            <a:r>
              <a:rPr lang="en-US" sz="1200">
                <a:solidFill>
                  <a:schemeClr val="dk2"/>
                </a:solidFill>
                <a:latin typeface="Times New Roman"/>
                <a:ea typeface="Times New Roman"/>
                <a:cs typeface="Times New Roman"/>
                <a:sym typeface="Times New Roman"/>
              </a:rPr>
              <a:t>Overall, the experiment highlights the HTM Classifier’s strength in temporal pattern recognition, making it highly suitable for applications involving streaming or time-series data.</a:t>
            </a:r>
            <a:endParaRPr/>
          </a:p>
          <a:p>
            <a:pPr indent="-235896" lvl="0" marL="306000" marR="0" rtl="0" algn="just">
              <a:spcBef>
                <a:spcPts val="840"/>
              </a:spcBef>
              <a:spcAft>
                <a:spcPts val="0"/>
              </a:spcAft>
              <a:buClr>
                <a:schemeClr val="accent2"/>
              </a:buClr>
              <a:buSzPts val="1104"/>
              <a:buFont typeface="Courier New"/>
              <a:buNone/>
            </a:pPr>
            <a:r>
              <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8"/>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KNN Classifier with Spatial Pooler generated SDRs</a:t>
            </a:r>
            <a:endParaRPr/>
          </a:p>
        </p:txBody>
      </p:sp>
      <p:graphicFrame>
        <p:nvGraphicFramePr>
          <p:cNvPr id="240" name="Google Shape;240;p28"/>
          <p:cNvGraphicFramePr/>
          <p:nvPr/>
        </p:nvGraphicFramePr>
        <p:xfrm>
          <a:off x="6867525" y="2551837"/>
          <a:ext cx="3000000" cy="3000000"/>
        </p:xfrm>
        <a:graphic>
          <a:graphicData uri="http://schemas.openxmlformats.org/drawingml/2006/table">
            <a:tbl>
              <a:tblPr bandRow="1" firstCol="1" firstRow="1">
                <a:noFill/>
                <a:tableStyleId>{7CCB3584-8DF5-4022-BB7F-37097C52D407}</a:tableStyleId>
              </a:tblPr>
              <a:tblGrid>
                <a:gridCol w="1270850"/>
                <a:gridCol w="2977300"/>
              </a:tblGrid>
              <a:tr h="661200">
                <a:tc>
                  <a:txBody>
                    <a:bodyPr/>
                    <a:lstStyle/>
                    <a:p>
                      <a:pPr indent="0" lvl="0" marL="0" marR="0" rtl="0" algn="just">
                        <a:lnSpc>
                          <a:spcPct val="95000"/>
                        </a:lnSpc>
                        <a:spcBef>
                          <a:spcPts val="0"/>
                        </a:spcBef>
                        <a:spcAft>
                          <a:spcPts val="0"/>
                        </a:spcAft>
                        <a:buNone/>
                      </a:pPr>
                      <a:r>
                        <a:rPr lang="en-US" sz="1000" u="none" cap="none" strike="noStrike"/>
                        <a:t>Value of k</a:t>
                      </a:r>
                      <a:endParaRPr/>
                    </a:p>
                    <a:p>
                      <a:pPr indent="0" lvl="0" marL="0" marR="0" rtl="0" algn="just">
                        <a:lnSpc>
                          <a:spcPct val="95000"/>
                        </a:lnSpc>
                        <a:spcBef>
                          <a:spcPts val="0"/>
                        </a:spcBef>
                        <a:spcAft>
                          <a:spcPts val="0"/>
                        </a:spcAft>
                        <a:buNone/>
                      </a:pPr>
                      <a:r>
                        <a:rPr lang="en-US" sz="1000" u="none" cap="none" strike="noStrike"/>
                        <a:t>(integer)</a:t>
                      </a:r>
                      <a:endParaRPr sz="1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95000"/>
                        </a:lnSpc>
                        <a:spcBef>
                          <a:spcPts val="0"/>
                        </a:spcBef>
                        <a:spcAft>
                          <a:spcPts val="0"/>
                        </a:spcAft>
                        <a:buNone/>
                      </a:pPr>
                      <a:r>
                        <a:rPr lang="en-US" sz="1000" u="none" cap="none" strike="noStrike"/>
                        <a:t>Accuracy of prediction in percentage (%)</a:t>
                      </a:r>
                      <a:endParaRPr sz="1000" u="none" cap="none" strike="noStrike">
                        <a:latin typeface="Times New Roman"/>
                        <a:ea typeface="Times New Roman"/>
                        <a:cs typeface="Times New Roman"/>
                        <a:sym typeface="Times New Roman"/>
                      </a:endParaRPr>
                    </a:p>
                  </a:txBody>
                  <a:tcPr marT="0" marB="0" marR="68575" marL="68575"/>
                </a:tc>
              </a:tr>
              <a:tr h="330600">
                <a:tc>
                  <a:txBody>
                    <a:bodyPr/>
                    <a:lstStyle/>
                    <a:p>
                      <a:pPr indent="0" lvl="0" marL="0" marR="0" rtl="0" algn="just">
                        <a:lnSpc>
                          <a:spcPct val="95000"/>
                        </a:lnSpc>
                        <a:spcBef>
                          <a:spcPts val="0"/>
                        </a:spcBef>
                        <a:spcAft>
                          <a:spcPts val="0"/>
                        </a:spcAft>
                        <a:buNone/>
                      </a:pPr>
                      <a:r>
                        <a:rPr lang="en-US" sz="1000" u="none" cap="none" strike="noStrike"/>
                        <a:t>1</a:t>
                      </a:r>
                      <a:endParaRPr sz="1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95000"/>
                        </a:lnSpc>
                        <a:spcBef>
                          <a:spcPts val="0"/>
                        </a:spcBef>
                        <a:spcAft>
                          <a:spcPts val="0"/>
                        </a:spcAft>
                        <a:buNone/>
                      </a:pPr>
                      <a:r>
                        <a:rPr lang="en-US" sz="1000"/>
                        <a:t>83</a:t>
                      </a:r>
                      <a:endParaRPr sz="1000" u="none" cap="none" strike="noStrike">
                        <a:latin typeface="Times New Roman"/>
                        <a:ea typeface="Times New Roman"/>
                        <a:cs typeface="Times New Roman"/>
                        <a:sym typeface="Times New Roman"/>
                      </a:endParaRPr>
                    </a:p>
                  </a:txBody>
                  <a:tcPr marT="0" marB="0" marR="68575" marL="68575"/>
                </a:tc>
              </a:tr>
              <a:tr h="330600">
                <a:tc>
                  <a:txBody>
                    <a:bodyPr/>
                    <a:lstStyle/>
                    <a:p>
                      <a:pPr indent="0" lvl="0" marL="0" marR="0" rtl="0" algn="just">
                        <a:lnSpc>
                          <a:spcPct val="95000"/>
                        </a:lnSpc>
                        <a:spcBef>
                          <a:spcPts val="0"/>
                        </a:spcBef>
                        <a:spcAft>
                          <a:spcPts val="0"/>
                        </a:spcAft>
                        <a:buNone/>
                      </a:pPr>
                      <a:r>
                        <a:rPr lang="en-US" sz="1000" u="none" cap="none" strike="noStrike"/>
                        <a:t>2</a:t>
                      </a:r>
                      <a:endParaRPr sz="1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95000"/>
                        </a:lnSpc>
                        <a:spcBef>
                          <a:spcPts val="0"/>
                        </a:spcBef>
                        <a:spcAft>
                          <a:spcPts val="0"/>
                        </a:spcAft>
                        <a:buNone/>
                      </a:pPr>
                      <a:r>
                        <a:rPr lang="en-US" sz="1000"/>
                        <a:t>83</a:t>
                      </a:r>
                      <a:endParaRPr sz="1000" u="none" cap="none" strike="noStrike">
                        <a:latin typeface="Times New Roman"/>
                        <a:ea typeface="Times New Roman"/>
                        <a:cs typeface="Times New Roman"/>
                        <a:sym typeface="Times New Roman"/>
                      </a:endParaRPr>
                    </a:p>
                  </a:txBody>
                  <a:tcPr marT="0" marB="0" marR="68575" marL="68575"/>
                </a:tc>
              </a:tr>
              <a:tr h="330600">
                <a:tc>
                  <a:txBody>
                    <a:bodyPr/>
                    <a:lstStyle/>
                    <a:p>
                      <a:pPr indent="0" lvl="0" marL="0" marR="0" rtl="0" algn="just">
                        <a:lnSpc>
                          <a:spcPct val="95000"/>
                        </a:lnSpc>
                        <a:spcBef>
                          <a:spcPts val="0"/>
                        </a:spcBef>
                        <a:spcAft>
                          <a:spcPts val="0"/>
                        </a:spcAft>
                        <a:buNone/>
                      </a:pPr>
                      <a:r>
                        <a:rPr lang="en-US" sz="1000" u="none" cap="none" strike="noStrike"/>
                        <a:t>3</a:t>
                      </a:r>
                      <a:endParaRPr sz="1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95000"/>
                        </a:lnSpc>
                        <a:spcBef>
                          <a:spcPts val="0"/>
                        </a:spcBef>
                        <a:spcAft>
                          <a:spcPts val="0"/>
                        </a:spcAft>
                        <a:buNone/>
                      </a:pPr>
                      <a:r>
                        <a:rPr lang="en-US" sz="1000"/>
                        <a:t>82</a:t>
                      </a:r>
                      <a:endParaRPr sz="1000" u="none" cap="none" strike="noStrike">
                        <a:latin typeface="Times New Roman"/>
                        <a:ea typeface="Times New Roman"/>
                        <a:cs typeface="Times New Roman"/>
                        <a:sym typeface="Times New Roman"/>
                      </a:endParaRPr>
                    </a:p>
                  </a:txBody>
                  <a:tcPr marT="0" marB="0" marR="68575" marL="68575"/>
                </a:tc>
              </a:tr>
              <a:tr h="330600">
                <a:tc>
                  <a:txBody>
                    <a:bodyPr/>
                    <a:lstStyle/>
                    <a:p>
                      <a:pPr indent="0" lvl="0" marL="0" marR="0" rtl="0" algn="just">
                        <a:lnSpc>
                          <a:spcPct val="95000"/>
                        </a:lnSpc>
                        <a:spcBef>
                          <a:spcPts val="0"/>
                        </a:spcBef>
                        <a:spcAft>
                          <a:spcPts val="0"/>
                        </a:spcAft>
                        <a:buNone/>
                      </a:pPr>
                      <a:r>
                        <a:rPr lang="en-US" sz="1000" u="none" cap="none" strike="noStrike"/>
                        <a:t>4</a:t>
                      </a:r>
                      <a:endParaRPr sz="1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95000"/>
                        </a:lnSpc>
                        <a:spcBef>
                          <a:spcPts val="0"/>
                        </a:spcBef>
                        <a:spcAft>
                          <a:spcPts val="0"/>
                        </a:spcAft>
                        <a:buNone/>
                      </a:pPr>
                      <a:r>
                        <a:rPr lang="en-US" sz="1000"/>
                        <a:t>78</a:t>
                      </a:r>
                      <a:endParaRPr sz="1000" u="none" cap="none" strike="noStrike">
                        <a:latin typeface="Times New Roman"/>
                        <a:ea typeface="Times New Roman"/>
                        <a:cs typeface="Times New Roman"/>
                        <a:sym typeface="Times New Roman"/>
                      </a:endParaRPr>
                    </a:p>
                  </a:txBody>
                  <a:tcPr marT="0" marB="0" marR="68575" marL="68575"/>
                </a:tc>
              </a:tr>
              <a:tr h="330600">
                <a:tc>
                  <a:txBody>
                    <a:bodyPr/>
                    <a:lstStyle/>
                    <a:p>
                      <a:pPr indent="0" lvl="0" marL="0" marR="0" rtl="0" algn="just">
                        <a:lnSpc>
                          <a:spcPct val="95000"/>
                        </a:lnSpc>
                        <a:spcBef>
                          <a:spcPts val="0"/>
                        </a:spcBef>
                        <a:spcAft>
                          <a:spcPts val="0"/>
                        </a:spcAft>
                        <a:buNone/>
                      </a:pPr>
                      <a:r>
                        <a:rPr lang="en-US" sz="1000" u="none" cap="none" strike="noStrike"/>
                        <a:t>5</a:t>
                      </a:r>
                      <a:endParaRPr sz="1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95000"/>
                        </a:lnSpc>
                        <a:spcBef>
                          <a:spcPts val="0"/>
                        </a:spcBef>
                        <a:spcAft>
                          <a:spcPts val="0"/>
                        </a:spcAft>
                        <a:buNone/>
                      </a:pPr>
                      <a:r>
                        <a:rPr lang="en-US" sz="1000"/>
                        <a:t>70</a:t>
                      </a:r>
                      <a:endParaRPr sz="1000" u="none" cap="none" strike="noStrike">
                        <a:latin typeface="Times New Roman"/>
                        <a:ea typeface="Times New Roman"/>
                        <a:cs typeface="Times New Roman"/>
                        <a:sym typeface="Times New Roman"/>
                      </a:endParaRPr>
                    </a:p>
                  </a:txBody>
                  <a:tcPr marT="0" marB="0" marR="68575" marL="68575"/>
                </a:tc>
              </a:tr>
              <a:tr h="330600">
                <a:tc>
                  <a:txBody>
                    <a:bodyPr/>
                    <a:lstStyle/>
                    <a:p>
                      <a:pPr indent="0" lvl="0" marL="0" marR="0" rtl="0" algn="just">
                        <a:lnSpc>
                          <a:spcPct val="95000"/>
                        </a:lnSpc>
                        <a:spcBef>
                          <a:spcPts val="0"/>
                        </a:spcBef>
                        <a:spcAft>
                          <a:spcPts val="0"/>
                        </a:spcAft>
                        <a:buNone/>
                      </a:pPr>
                      <a:r>
                        <a:rPr lang="en-US" sz="1000" u="none" cap="none" strike="noStrike"/>
                        <a:t>6</a:t>
                      </a:r>
                      <a:endParaRPr sz="10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95000"/>
                        </a:lnSpc>
                        <a:spcBef>
                          <a:spcPts val="0"/>
                        </a:spcBef>
                        <a:spcAft>
                          <a:spcPts val="0"/>
                        </a:spcAft>
                        <a:buNone/>
                      </a:pPr>
                      <a:r>
                        <a:rPr lang="en-US" sz="1000"/>
                        <a:t>70</a:t>
                      </a:r>
                      <a:endParaRPr sz="1000" u="none" cap="none" strike="noStrike">
                        <a:latin typeface="Times New Roman"/>
                        <a:ea typeface="Times New Roman"/>
                        <a:cs typeface="Times New Roman"/>
                        <a:sym typeface="Times New Roman"/>
                      </a:endParaRPr>
                    </a:p>
                  </a:txBody>
                  <a:tcPr marT="0" marB="0" marR="68575" marL="68575"/>
                </a:tc>
              </a:tr>
            </a:tbl>
          </a:graphicData>
        </a:graphic>
      </p:graphicFrame>
      <p:sp>
        <p:nvSpPr>
          <p:cNvPr id="241" name="Google Shape;241;p28"/>
          <p:cNvSpPr txBox="1"/>
          <p:nvPr/>
        </p:nvSpPr>
        <p:spPr>
          <a:xfrm>
            <a:off x="581192" y="2550974"/>
            <a:ext cx="4743284" cy="2031325"/>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400"/>
              <a:buFont typeface="Courier New"/>
              <a:buChar char="o"/>
            </a:pPr>
            <a:r>
              <a:rPr lang="en-US" sz="1400">
                <a:solidFill>
                  <a:schemeClr val="dk1"/>
                </a:solidFill>
                <a:latin typeface="Times New Roman"/>
                <a:ea typeface="Times New Roman"/>
                <a:cs typeface="Times New Roman"/>
                <a:sym typeface="Times New Roman"/>
              </a:rPr>
              <a:t>The accuracy of the KNN model is closely tied to the choice of the k parameter, and finding the optimal value of k is an important step in the model development process. </a:t>
            </a:r>
            <a:endParaRPr/>
          </a:p>
          <a:p>
            <a:pPr indent="-285750" lvl="0" marL="285750" marR="0" rtl="0" algn="just">
              <a:spcBef>
                <a:spcPts val="0"/>
              </a:spcBef>
              <a:spcAft>
                <a:spcPts val="0"/>
              </a:spcAft>
              <a:buClr>
                <a:schemeClr val="dk1"/>
              </a:buClr>
              <a:buSzPts val="1400"/>
              <a:buFont typeface="Courier New"/>
              <a:buChar char="o"/>
            </a:pPr>
            <a:r>
              <a:rPr lang="en-US" sz="1400">
                <a:solidFill>
                  <a:schemeClr val="dk1"/>
                </a:solidFill>
                <a:latin typeface="Times New Roman"/>
                <a:ea typeface="Times New Roman"/>
                <a:cs typeface="Times New Roman"/>
                <a:sym typeface="Times New Roman"/>
              </a:rPr>
              <a:t>The optimal value of k is typically determined through a process of cross-validation or other model selection technique-s, as it can vary depending on the specific dataset and problem at hand. </a:t>
            </a:r>
            <a:endParaRPr/>
          </a:p>
          <a:p>
            <a:pPr indent="-285750" lvl="0" marL="285750" marR="0" rtl="0" algn="just">
              <a:spcBef>
                <a:spcPts val="0"/>
              </a:spcBef>
              <a:spcAft>
                <a:spcPts val="0"/>
              </a:spcAft>
              <a:buClr>
                <a:schemeClr val="dk1"/>
              </a:buClr>
              <a:buSzPts val="1400"/>
              <a:buFont typeface="Courier New"/>
              <a:buChar char="o"/>
            </a:pPr>
            <a:r>
              <a:rPr lang="en-US" sz="1400">
                <a:solidFill>
                  <a:schemeClr val="dk1"/>
                </a:solidFill>
                <a:latin typeface="Times New Roman"/>
                <a:ea typeface="Times New Roman"/>
                <a:cs typeface="Times New Roman"/>
                <a:sym typeface="Times New Roman"/>
              </a:rPr>
              <a:t>The figure shows the trade off and impact evaluation for values of k on KNN classifier results.</a:t>
            </a:r>
            <a:endParaRPr sz="1400">
              <a:solidFill>
                <a:schemeClr val="dk1"/>
              </a:solidFill>
              <a:latin typeface="Gill Sans"/>
              <a:ea typeface="Gill Sans"/>
              <a:cs typeface="Gill Sans"/>
              <a:sym typeface="Gill Sans"/>
            </a:endParaRPr>
          </a:p>
        </p:txBody>
      </p:sp>
      <p:sp>
        <p:nvSpPr>
          <p:cNvPr id="242" name="Google Shape;242;p28"/>
          <p:cNvSpPr txBox="1"/>
          <p:nvPr/>
        </p:nvSpPr>
        <p:spPr>
          <a:xfrm>
            <a:off x="7639050" y="5263288"/>
            <a:ext cx="27051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Impact of k on the accuracy of the model(approximate)</a:t>
            </a:r>
            <a:endParaRPr sz="1200">
              <a:solidFill>
                <a:schemeClr val="dk1"/>
              </a:solidFill>
              <a:latin typeface="Gill Sans"/>
              <a:ea typeface="Gill Sans"/>
              <a:cs typeface="Gill Sans"/>
              <a:sym typeface="Gill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9"/>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KNN Classifier with Spatial Pooler generated SDRs - Unit Testing</a:t>
            </a:r>
            <a:endParaRPr/>
          </a:p>
        </p:txBody>
      </p:sp>
      <p:pic>
        <p:nvPicPr>
          <p:cNvPr id="248" name="Google Shape;248;p29"/>
          <p:cNvPicPr preferRelativeResize="0"/>
          <p:nvPr/>
        </p:nvPicPr>
        <p:blipFill rotWithShape="1">
          <a:blip r:embed="rId3">
            <a:alphaModFix/>
          </a:blip>
          <a:srcRect b="0" l="0" r="0" t="0"/>
          <a:stretch/>
        </p:blipFill>
        <p:spPr>
          <a:xfrm>
            <a:off x="1945035" y="2117242"/>
            <a:ext cx="7920930" cy="4038602"/>
          </a:xfrm>
          <a:prstGeom prst="rect">
            <a:avLst/>
          </a:prstGeom>
          <a:noFill/>
          <a:ln>
            <a:noFill/>
          </a:ln>
        </p:spPr>
      </p:pic>
      <p:sp>
        <p:nvSpPr>
          <p:cNvPr id="249" name="Google Shape;249;p29"/>
          <p:cNvSpPr txBox="1"/>
          <p:nvPr/>
        </p:nvSpPr>
        <p:spPr>
          <a:xfrm>
            <a:off x="4295775" y="6155845"/>
            <a:ext cx="344805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Times New Roman"/>
                <a:ea typeface="Times New Roman"/>
                <a:cs typeface="Times New Roman"/>
                <a:sym typeface="Times New Roman"/>
              </a:rPr>
              <a:t>Unit tests for KNN classifier on SP generated SRDs</a:t>
            </a:r>
            <a:endParaRPr sz="1200">
              <a:solidFill>
                <a:schemeClr val="dk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0"/>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en-US" cap="none"/>
              <a:t>Conclusions</a:t>
            </a:r>
            <a:endParaRPr/>
          </a:p>
        </p:txBody>
      </p:sp>
      <p:sp>
        <p:nvSpPr>
          <p:cNvPr id="255" name="Google Shape;255;p30"/>
          <p:cNvSpPr txBox="1"/>
          <p:nvPr/>
        </p:nvSpPr>
        <p:spPr>
          <a:xfrm>
            <a:off x="581192" y="2046521"/>
            <a:ext cx="10305900" cy="22425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95000"/>
              </a:lnSpc>
              <a:spcBef>
                <a:spcPts val="0"/>
              </a:spcBef>
              <a:spcAft>
                <a:spcPts val="0"/>
              </a:spcAft>
              <a:buClr>
                <a:schemeClr val="accent3"/>
              </a:buClr>
              <a:buSzPts val="1400"/>
              <a:buFont typeface="Courier New"/>
              <a:buChar char="o"/>
            </a:pPr>
            <a:r>
              <a:rPr lang="en-US" sz="1400">
                <a:solidFill>
                  <a:schemeClr val="dk1"/>
                </a:solidFill>
                <a:latin typeface="Times New Roman"/>
                <a:ea typeface="Times New Roman"/>
                <a:cs typeface="Times New Roman"/>
                <a:sym typeface="Times New Roman"/>
              </a:rPr>
              <a:t>The research introduces K-Nearest Neighbors (KNN) classification within the Neocortex API framework, inspired by neocortical information processing.</a:t>
            </a:r>
            <a:endParaRPr/>
          </a:p>
          <a:p>
            <a:pPr indent="-285750" lvl="0" marL="285750" marR="0" rtl="0" algn="just">
              <a:lnSpc>
                <a:spcPct val="95000"/>
              </a:lnSpc>
              <a:spcBef>
                <a:spcPts val="600"/>
              </a:spcBef>
              <a:spcAft>
                <a:spcPts val="0"/>
              </a:spcAft>
              <a:buClr>
                <a:schemeClr val="accent3"/>
              </a:buClr>
              <a:buSzPts val="1400"/>
              <a:buFont typeface="Courier New"/>
              <a:buChar char="o"/>
            </a:pPr>
            <a:r>
              <a:rPr lang="en-US" sz="1400">
                <a:solidFill>
                  <a:schemeClr val="dk1"/>
                </a:solidFill>
                <a:latin typeface="Times New Roman"/>
                <a:ea typeface="Times New Roman"/>
                <a:cs typeface="Times New Roman"/>
                <a:sym typeface="Times New Roman"/>
              </a:rPr>
              <a:t>By integrating spatial pooling and hierarchical temporal memory (HTM), the method enhances the classification of sequential data streams. </a:t>
            </a:r>
            <a:endParaRPr/>
          </a:p>
          <a:p>
            <a:pPr indent="-285750" lvl="0" marL="285750" marR="0" rtl="0" algn="just">
              <a:lnSpc>
                <a:spcPct val="95000"/>
              </a:lnSpc>
              <a:spcBef>
                <a:spcPts val="600"/>
              </a:spcBef>
              <a:spcAft>
                <a:spcPts val="0"/>
              </a:spcAft>
              <a:buClr>
                <a:schemeClr val="accent3"/>
              </a:buClr>
              <a:buSzPts val="1400"/>
              <a:buFont typeface="Courier New"/>
              <a:buChar char="o"/>
            </a:pPr>
            <a:r>
              <a:rPr lang="en-US" sz="1400">
                <a:solidFill>
                  <a:schemeClr val="dk1"/>
                </a:solidFill>
                <a:latin typeface="Times New Roman"/>
                <a:ea typeface="Times New Roman"/>
                <a:cs typeface="Times New Roman"/>
                <a:sym typeface="Times New Roman"/>
              </a:rPr>
              <a:t>Through rigorous testing and integration with the Neocortex API, the study consistently demonstrates the model's effectiveness, achieving a commendable </a:t>
            </a:r>
            <a:r>
              <a:rPr lang="en-US">
                <a:solidFill>
                  <a:schemeClr val="dk1"/>
                </a:solidFill>
                <a:latin typeface="Times New Roman"/>
                <a:ea typeface="Times New Roman"/>
                <a:cs typeface="Times New Roman"/>
                <a:sym typeface="Times New Roman"/>
              </a:rPr>
              <a:t>8</a:t>
            </a:r>
            <a:r>
              <a:rPr lang="en-US" sz="1400">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a:t>
            </a:r>
            <a:r>
              <a:rPr lang="en-US" sz="1400">
                <a:solidFill>
                  <a:schemeClr val="dk1"/>
                </a:solidFill>
                <a:latin typeface="Times New Roman"/>
                <a:ea typeface="Times New Roman"/>
                <a:cs typeface="Times New Roman"/>
                <a:sym typeface="Times New Roman"/>
              </a:rPr>
              <a:t>89% accuracy rate across varied scenarios.</a:t>
            </a:r>
            <a:endParaRPr/>
          </a:p>
          <a:p>
            <a:pPr indent="-285750" lvl="0" marL="285750" marR="0" rtl="0" algn="just">
              <a:lnSpc>
                <a:spcPct val="95000"/>
              </a:lnSpc>
              <a:spcBef>
                <a:spcPts val="600"/>
              </a:spcBef>
              <a:spcAft>
                <a:spcPts val="0"/>
              </a:spcAft>
              <a:buClr>
                <a:schemeClr val="accent3"/>
              </a:buClr>
              <a:buSzPts val="1400"/>
              <a:buFont typeface="Courier New"/>
              <a:buChar char="o"/>
            </a:pPr>
            <a:r>
              <a:rPr lang="en-US" sz="1400">
                <a:solidFill>
                  <a:schemeClr val="dk1"/>
                </a:solidFill>
                <a:latin typeface="Times New Roman"/>
                <a:ea typeface="Times New Roman"/>
                <a:cs typeface="Times New Roman"/>
                <a:sym typeface="Times New Roman"/>
              </a:rPr>
              <a:t>These findings underscore the potential of neuromorphic-inspired frameworks in advancing sequential data analysis. </a:t>
            </a:r>
            <a:endParaRPr/>
          </a:p>
          <a:p>
            <a:pPr indent="-285750" lvl="0" marL="285750" marR="0" rtl="0" algn="just">
              <a:lnSpc>
                <a:spcPct val="95000"/>
              </a:lnSpc>
              <a:spcBef>
                <a:spcPts val="600"/>
              </a:spcBef>
              <a:spcAft>
                <a:spcPts val="0"/>
              </a:spcAft>
              <a:buClr>
                <a:schemeClr val="accent3"/>
              </a:buClr>
              <a:buSzPts val="1400"/>
              <a:buFont typeface="Courier New"/>
              <a:buChar char="o"/>
            </a:pPr>
            <a:r>
              <a:rPr lang="en-US" sz="1400">
                <a:solidFill>
                  <a:schemeClr val="dk1"/>
                </a:solidFill>
                <a:latin typeface="Times New Roman"/>
                <a:ea typeface="Times New Roman"/>
                <a:cs typeface="Times New Roman"/>
                <a:sym typeface="Times New Roman"/>
              </a:rPr>
              <a:t>Moving forward, optimizing performance and exploring broader applications remain promising areas for future research, reflecting the ongoing convergence of traditional machine learning and biologically inspired computational models.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p31"/>
          <p:cNvSpPr/>
          <p:nvPr/>
        </p:nvSpPr>
        <p:spPr>
          <a:xfrm>
            <a:off x="0" y="1"/>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62" name="Google Shape;262;p31"/>
          <p:cNvSpPr/>
          <p:nvPr/>
        </p:nvSpPr>
        <p:spPr>
          <a:xfrm>
            <a:off x="8042147" y="723899"/>
            <a:ext cx="3703320" cy="566666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263" name="Google Shape;263;p31"/>
          <p:cNvGrpSpPr/>
          <p:nvPr/>
        </p:nvGrpSpPr>
        <p:grpSpPr>
          <a:xfrm>
            <a:off x="446534" y="453643"/>
            <a:ext cx="11298933" cy="98554"/>
            <a:chOff x="446534" y="453643"/>
            <a:chExt cx="11298933" cy="98554"/>
          </a:xfrm>
        </p:grpSpPr>
        <p:sp>
          <p:nvSpPr>
            <p:cNvPr id="264" name="Google Shape;264;p31"/>
            <p:cNvSpPr/>
            <p:nvPr/>
          </p:nvSpPr>
          <p:spPr>
            <a:xfrm>
              <a:off x="446534" y="457200"/>
              <a:ext cx="3703320" cy="9499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65" name="Google Shape;265;p31"/>
            <p:cNvSpPr/>
            <p:nvPr/>
          </p:nvSpPr>
          <p:spPr>
            <a:xfrm>
              <a:off x="8042147" y="453643"/>
              <a:ext cx="3703320" cy="98554"/>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66" name="Google Shape;266;p31"/>
            <p:cNvSpPr/>
            <p:nvPr/>
          </p:nvSpPr>
          <p:spPr>
            <a:xfrm>
              <a:off x="4241830" y="457200"/>
              <a:ext cx="3703320" cy="9144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267" name="Google Shape;267;p31"/>
          <p:cNvSpPr txBox="1"/>
          <p:nvPr>
            <p:ph type="ctrTitle"/>
          </p:nvPr>
        </p:nvSpPr>
        <p:spPr>
          <a:xfrm>
            <a:off x="8191500" y="2390776"/>
            <a:ext cx="3081576" cy="1746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FFFFFF"/>
              </a:buClr>
              <a:buSzPts val="3600"/>
              <a:buFont typeface="Gill Sans"/>
              <a:buNone/>
            </a:pPr>
            <a:r>
              <a:rPr lang="en-US">
                <a:solidFill>
                  <a:srgbClr val="FFFFFF"/>
                </a:solidFill>
              </a:rPr>
              <a:t>THANK YOU</a:t>
            </a:r>
            <a:endParaRPr/>
          </a:p>
        </p:txBody>
      </p:sp>
      <p:pic>
        <p:nvPicPr>
          <p:cNvPr descr="Digital Numbers" id="268" name="Google Shape;268;p31"/>
          <p:cNvPicPr preferRelativeResize="0"/>
          <p:nvPr/>
        </p:nvPicPr>
        <p:blipFill rotWithShape="1">
          <a:blip r:embed="rId3">
            <a:alphaModFix/>
          </a:blip>
          <a:srcRect b="1" l="2189" r="9641" t="0"/>
          <a:stretch/>
        </p:blipFill>
        <p:spPr>
          <a:xfrm>
            <a:off x="446534" y="723899"/>
            <a:ext cx="7498616" cy="56769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