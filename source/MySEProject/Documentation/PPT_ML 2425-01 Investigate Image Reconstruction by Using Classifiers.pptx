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4"/>
  </p:notesMasterIdLst>
  <p:handoutMasterIdLst>
    <p:handoutMasterId r:id="rId25"/>
  </p:handoutMasterIdLst>
  <p:sldIdLst>
    <p:sldId id="256" r:id="rId5"/>
    <p:sldId id="262" r:id="rId6"/>
    <p:sldId id="280" r:id="rId7"/>
    <p:sldId id="281" r:id="rId8"/>
    <p:sldId id="277" r:id="rId9"/>
    <p:sldId id="264" r:id="rId10"/>
    <p:sldId id="278" r:id="rId11"/>
    <p:sldId id="265" r:id="rId12"/>
    <p:sldId id="266" r:id="rId13"/>
    <p:sldId id="267" r:id="rId14"/>
    <p:sldId id="268" r:id="rId15"/>
    <p:sldId id="270" r:id="rId16"/>
    <p:sldId id="272" r:id="rId17"/>
    <p:sldId id="279" r:id="rId18"/>
    <p:sldId id="273" r:id="rId19"/>
    <p:sldId id="276" r:id="rId20"/>
    <p:sldId id="274" r:id="rId21"/>
    <p:sldId id="275" r:id="rId22"/>
    <p:sldId id="26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100" d="100"/>
          <a:sy n="100" d="100"/>
        </p:scale>
        <p:origin x="309" y="4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3/27/2025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19</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16925" y="92528"/>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76148" y="2402711"/>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76148" y="2383014"/>
            <a:ext cx="12034684" cy="1044846"/>
          </a:xfrm>
        </p:spPr>
        <p:txBody>
          <a:bodyPr>
            <a:noAutofit/>
          </a:bodyPr>
          <a:lstStyle/>
          <a:p>
            <a:pPr algn="ctr"/>
            <a:r>
              <a:rPr lang="en-US" sz="3000" b="1" dirty="0">
                <a:solidFill>
                  <a:schemeClr val="bg1"/>
                </a:solidFill>
                <a:latin typeface="Adobe Heiti Std R" panose="020B0400000000000000" pitchFamily="34" charset="-128"/>
                <a:ea typeface="Adobe Heiti Std R" panose="020B0400000000000000" pitchFamily="34" charset="-128"/>
              </a:rPr>
              <a:t>Title: Investigate Image Reconstruction by Using Classifiers</a:t>
            </a: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68826" y="1524000"/>
            <a:ext cx="5020245" cy="473529"/>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Abdul Wahab                        -	     1447523</a:t>
            </a:r>
          </a:p>
          <a:p>
            <a:r>
              <a:rPr lang="en-US" sz="1400" cap="none" dirty="0">
                <a:solidFill>
                  <a:schemeClr val="bg1"/>
                </a:solidFill>
                <a:latin typeface="Adobe Fan Heiti Std B" panose="020B0700000000000000" pitchFamily="34" charset="-128"/>
                <a:ea typeface="Adobe Fan Heiti Std B" panose="020B0700000000000000" pitchFamily="34" charset="-128"/>
              </a:rPr>
              <a:t>Romana Rashid                    -            1428733</a:t>
            </a:r>
          </a:p>
          <a:p>
            <a:r>
              <a:rPr lang="en-US" sz="1400" cap="none" dirty="0">
                <a:solidFill>
                  <a:schemeClr val="bg1"/>
                </a:solidFill>
                <a:latin typeface="Adobe Fan Heiti Std B" panose="020B0700000000000000" pitchFamily="34" charset="-128"/>
                <a:ea typeface="Adobe Fan Heiti Std B" panose="020B0700000000000000" pitchFamily="34" charset="-128"/>
              </a:rPr>
              <a:t>Nishat Tasnim Nabila          -	     1502853</a:t>
            </a: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Objective</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to HTM and KNN classifier </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classifier’s native 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KNN classifier’s native implementation</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integration with Neocortex Api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HTM and KNN classifiers 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A2861-8DA7-D40A-AF51-E661BACD8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1F5F9C-59C0-D410-F43F-5CC839702ED3}"/>
              </a:ext>
            </a:extLst>
          </p:cNvPr>
          <p:cNvSpPr>
            <a:spLocks noGrp="1"/>
          </p:cNvSpPr>
          <p:nvPr>
            <p:ph type="title"/>
          </p:nvPr>
        </p:nvSpPr>
        <p:spPr/>
        <p:txBody>
          <a:bodyPr>
            <a:normAutofit/>
          </a:bodyPr>
          <a:lstStyle/>
          <a:p>
            <a:r>
              <a:rPr lang="en-US" sz="3200" cap="none" dirty="0"/>
              <a:t>Introduction</a:t>
            </a:r>
          </a:p>
        </p:txBody>
      </p:sp>
      <p:sp>
        <p:nvSpPr>
          <p:cNvPr id="3" name="Content Placeholder 2">
            <a:extLst>
              <a:ext uri="{FF2B5EF4-FFF2-40B4-BE49-F238E27FC236}">
                <a16:creationId xmlns:a16="http://schemas.microsoft.com/office/drawing/2014/main" id="{1AC76CC7-072E-4A32-9A23-0BC4D2D962B4}"/>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In this project, an experiment which is performed to makes us indulge with the knowledge of Sparse Distributed Representations (SDRs),classifiers and an integral component in the </a:t>
            </a:r>
            <a:r>
              <a:rPr lang="en-US" dirty="0" err="1">
                <a:latin typeface="Times New Roman" panose="02020603050405020304" pitchFamily="18" charset="0"/>
                <a:cs typeface="Times New Roman" panose="02020603050405020304" pitchFamily="18" charset="0"/>
              </a:rPr>
              <a:t>neocortexapi</a:t>
            </a:r>
            <a:r>
              <a:rPr lang="en-US" dirty="0">
                <a:latin typeface="Times New Roman" panose="02020603050405020304" pitchFamily="18" charset="0"/>
                <a:cs typeface="Times New Roman" panose="02020603050405020304" pitchFamily="18" charset="0"/>
              </a:rPr>
              <a:t>. Reconstructing or approximating an image from incomplete, noisy, or partial data is the basic challenge in image reconstruction in computer vision, machine learning, and artificial intelligence. By converting input images into sparse binary encodings and passing them through a Spatial Pooler, the system simulates how the neocortex processes information. Both classifiers are trained on SDRs and connected to corresponding reconstruction modules that attempt to rebuild the original image content.</a:t>
            </a:r>
            <a:r>
              <a:rPr lang="en-US" dirty="0"/>
              <a:t> </a:t>
            </a:r>
            <a:r>
              <a:rPr lang="en-US" dirty="0">
                <a:latin typeface="Times New Roman" panose="02020603050405020304" pitchFamily="18" charset="0"/>
                <a:cs typeface="Times New Roman" panose="02020603050405020304" pitchFamily="18" charset="0"/>
              </a:rPr>
              <a:t>Image reconstruction has use in many important areas. Image reconstruction improves object identification, feature classification, and pattern recognition under demanding situation. This work offers a computationally efficient and interpreted method applicable to many fields by solving the difficulties related to conventional deep learning models. The results of this study could provide fresh avenues for creating strong, scalable image reconstruction methods catered to practical applications.</a:t>
            </a:r>
          </a:p>
        </p:txBody>
      </p:sp>
    </p:spTree>
    <p:extLst>
      <p:ext uri="{BB962C8B-B14F-4D97-AF65-F5344CB8AC3E}">
        <p14:creationId xmlns:p14="http://schemas.microsoft.com/office/powerpoint/2010/main" val="18119334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81B12-00A3-B2AB-5A9A-97A643A9A3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86CB81-4B6B-6151-4859-9B988362BE2D}"/>
              </a:ext>
            </a:extLst>
          </p:cNvPr>
          <p:cNvSpPr>
            <a:spLocks noGrp="1"/>
          </p:cNvSpPr>
          <p:nvPr>
            <p:ph type="title"/>
          </p:nvPr>
        </p:nvSpPr>
        <p:spPr/>
        <p:txBody>
          <a:bodyPr>
            <a:normAutofit/>
          </a:bodyPr>
          <a:lstStyle/>
          <a:p>
            <a:r>
              <a:rPr lang="en-US" sz="3200" cap="none" dirty="0"/>
              <a:t>Objectives</a:t>
            </a:r>
          </a:p>
        </p:txBody>
      </p:sp>
      <p:sp>
        <p:nvSpPr>
          <p:cNvPr id="3" name="Content Placeholder 2">
            <a:extLst>
              <a:ext uri="{FF2B5EF4-FFF2-40B4-BE49-F238E27FC236}">
                <a16:creationId xmlns:a16="http://schemas.microsoft.com/office/drawing/2014/main" id="{2AFC40D6-F18F-F90D-EA1D-13BD9D211031}"/>
              </a:ext>
            </a:extLst>
          </p:cNvPr>
          <p:cNvSpPr>
            <a:spLocks noGrp="1"/>
          </p:cNvSpPr>
          <p:nvPr>
            <p:ph idx="1"/>
          </p:nvPr>
        </p:nvSpPr>
        <p:spPr>
          <a:xfrm>
            <a:off x="581192" y="2180496"/>
            <a:ext cx="4861665" cy="3678303"/>
          </a:xfrm>
        </p:spPr>
        <p:txBody>
          <a:bodyPr>
            <a:normAutofit fontScale="85000" lnSpcReduction="20000"/>
          </a:bodyPr>
          <a:lstStyle/>
          <a:p>
            <a:pPr>
              <a:buFont typeface="Courier New" panose="02070309020205020404" pitchFamily="49" charset="0"/>
              <a:buChar char="o"/>
            </a:pPr>
            <a:r>
              <a:rPr lang="en-US" b="1" dirty="0"/>
              <a:t>To implement an image processing pipeline</a:t>
            </a:r>
            <a:r>
              <a:rPr lang="en-US" dirty="0"/>
              <a:t> that converts input images into binary format for efficient sparse encoding.</a:t>
            </a:r>
          </a:p>
          <a:p>
            <a:pPr>
              <a:buFont typeface="Courier New" panose="02070309020205020404" pitchFamily="49" charset="0"/>
              <a:buChar char="o"/>
            </a:pPr>
            <a:r>
              <a:rPr lang="en-US" b="1" dirty="0"/>
              <a:t>To generate Sparse Distributed Representations (SDRs)</a:t>
            </a:r>
            <a:r>
              <a:rPr lang="en-US" dirty="0"/>
              <a:t> using an image encoder followed by a Spatial Pooler inspired by the HTM framework.</a:t>
            </a:r>
          </a:p>
          <a:p>
            <a:pPr>
              <a:buFont typeface="Courier New" panose="02070309020205020404" pitchFamily="49" charset="0"/>
              <a:buChar char="o"/>
            </a:pPr>
            <a:r>
              <a:rPr lang="en-US" b="1" dirty="0"/>
              <a:t>To apply and train two classifiers</a:t>
            </a:r>
            <a:r>
              <a:rPr lang="en-US" dirty="0"/>
              <a:t> — HTM and k-NN — on the SDR dataset for predictive modeling.</a:t>
            </a:r>
          </a:p>
          <a:p>
            <a:pPr>
              <a:buFont typeface="Courier New" panose="02070309020205020404" pitchFamily="49" charset="0"/>
              <a:buChar char="o"/>
            </a:pPr>
            <a:r>
              <a:rPr lang="en-US" b="1" dirty="0"/>
              <a:t>To reconstruct images</a:t>
            </a:r>
            <a:r>
              <a:rPr lang="en-US" dirty="0"/>
              <a:t> from the classifier outputs using dedicated HTM and k-NN reconstructor modules.</a:t>
            </a:r>
          </a:p>
          <a:p>
            <a:pPr>
              <a:buFont typeface="Courier New" panose="02070309020205020404" pitchFamily="49" charset="0"/>
              <a:buChar char="o"/>
            </a:pPr>
            <a:r>
              <a:rPr lang="en-US" b="1" dirty="0"/>
              <a:t>To perform a comparative evaluation</a:t>
            </a:r>
            <a:r>
              <a:rPr lang="en-US" dirty="0"/>
              <a:t> of HTM and k-NN reconstruction accuracy and quality.</a:t>
            </a:r>
          </a:p>
          <a:p>
            <a:pPr>
              <a:buFont typeface="Courier New" panose="02070309020205020404" pitchFamily="49" charset="0"/>
              <a:buChar char="o"/>
            </a:pPr>
            <a:r>
              <a:rPr lang="en-US" b="1" dirty="0"/>
              <a:t>To analyze which classifier</a:t>
            </a:r>
            <a:r>
              <a:rPr lang="en-US" dirty="0"/>
              <a:t> better preserves the original image information in the reconstruction process.</a:t>
            </a:r>
          </a:p>
        </p:txBody>
      </p:sp>
      <p:pic>
        <p:nvPicPr>
          <p:cNvPr id="4" name="Picture 3">
            <a:extLst>
              <a:ext uri="{FF2B5EF4-FFF2-40B4-BE49-F238E27FC236}">
                <a16:creationId xmlns:a16="http://schemas.microsoft.com/office/drawing/2014/main" id="{C42DA450-1D4C-E2EA-5B67-00F0D44AF744}"/>
              </a:ext>
            </a:extLst>
          </p:cNvPr>
          <p:cNvPicPr>
            <a:picLocks noChangeAspect="1"/>
          </p:cNvPicPr>
          <p:nvPr/>
        </p:nvPicPr>
        <p:blipFill>
          <a:blip r:embed="rId2"/>
          <a:stretch>
            <a:fillRect/>
          </a:stretch>
        </p:blipFill>
        <p:spPr>
          <a:xfrm>
            <a:off x="6950529" y="1943101"/>
            <a:ext cx="4348842" cy="4076700"/>
          </a:xfrm>
          <a:prstGeom prst="rect">
            <a:avLst/>
          </a:prstGeom>
        </p:spPr>
      </p:pic>
    </p:spTree>
    <p:extLst>
      <p:ext uri="{BB962C8B-B14F-4D97-AF65-F5344CB8AC3E}">
        <p14:creationId xmlns:p14="http://schemas.microsoft.com/office/powerpoint/2010/main" val="40714347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HTM Classifier</a:t>
            </a:r>
            <a:endParaRPr lang="en-US" dirty="0"/>
          </a:p>
        </p:txBody>
      </p:sp>
      <p:sp>
        <p:nvSpPr>
          <p:cNvPr id="3" name="Content Placeholder 2"/>
          <p:cNvSpPr>
            <a:spLocks noGrp="1"/>
          </p:cNvSpPr>
          <p:nvPr>
            <p:ph idx="1"/>
          </p:nvPr>
        </p:nvSpPr>
        <p:spPr>
          <a:xfrm>
            <a:off x="456006" y="2053249"/>
            <a:ext cx="11327780" cy="1179807"/>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A machine learning model with biological inspiration, the HTM (Hierarchical Temporal Memory) classifier is based on the structure and function of the human brain's neocortex. It is a component of the HTM framework, which </a:t>
            </a:r>
            <a:r>
              <a:rPr lang="en-US" sz="1400" dirty="0" err="1">
                <a:latin typeface="Times New Roman" panose="02020603050405020304" pitchFamily="18" charset="0"/>
                <a:cs typeface="Times New Roman" panose="02020603050405020304" pitchFamily="18" charset="0"/>
              </a:rPr>
              <a:t>Numenta</a:t>
            </a:r>
            <a:r>
              <a:rPr lang="en-US" sz="1400" dirty="0">
                <a:latin typeface="Times New Roman" panose="02020603050405020304" pitchFamily="18" charset="0"/>
                <a:cs typeface="Times New Roman" panose="02020603050405020304" pitchFamily="18" charset="0"/>
              </a:rPr>
              <a:t> initially created.</a:t>
            </a:r>
            <a:r>
              <a:rPr lang="en-US" sz="1400" dirty="0"/>
              <a:t> </a:t>
            </a:r>
            <a:r>
              <a:rPr lang="en-US" sz="1400" dirty="0">
                <a:latin typeface="Times New Roman" panose="02020603050405020304" pitchFamily="18" charset="0"/>
                <a:cs typeface="Times New Roman" panose="02020603050405020304" pitchFamily="18" charset="0"/>
              </a:rPr>
              <a:t>its key strength lies in learning </a:t>
            </a:r>
            <a:r>
              <a:rPr lang="en-US" sz="1400" b="1" dirty="0">
                <a:latin typeface="Times New Roman" panose="02020603050405020304" pitchFamily="18" charset="0"/>
                <a:cs typeface="Times New Roman" panose="02020603050405020304" pitchFamily="18" charset="0"/>
              </a:rPr>
              <a:t>temporal patterns</a:t>
            </a:r>
            <a:r>
              <a:rPr lang="en-US" sz="1400" dirty="0">
                <a:latin typeface="Times New Roman" panose="02020603050405020304" pitchFamily="18" charset="0"/>
                <a:cs typeface="Times New Roman" panose="02020603050405020304" pitchFamily="18" charset="0"/>
              </a:rPr>
              <a:t> and making </a:t>
            </a:r>
            <a:r>
              <a:rPr lang="en-US" sz="1400" b="1" dirty="0">
                <a:latin typeface="Times New Roman" panose="02020603050405020304" pitchFamily="18" charset="0"/>
                <a:cs typeface="Times New Roman" panose="02020603050405020304" pitchFamily="18" charset="0"/>
              </a:rPr>
              <a:t>predictions over time</a:t>
            </a:r>
            <a:r>
              <a:rPr lang="en-US" sz="1400" dirty="0">
                <a:latin typeface="Times New Roman" panose="02020603050405020304" pitchFamily="18" charset="0"/>
                <a:cs typeface="Times New Roman" panose="02020603050405020304" pitchFamily="18" charset="0"/>
              </a:rPr>
              <a:t>.</a:t>
            </a:r>
          </a:p>
          <a:p>
            <a:pPr marL="0" indent="0">
              <a:buNone/>
            </a:pPr>
            <a:endParaRPr lang="en-US" sz="14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4506C3C3-504C-7DDF-FCC9-B2C5F6D31FDB}"/>
              </a:ext>
            </a:extLst>
          </p:cNvPr>
          <p:cNvSpPr txBox="1">
            <a:spLocks/>
          </p:cNvSpPr>
          <p:nvPr/>
        </p:nvSpPr>
        <p:spPr>
          <a:xfrm>
            <a:off x="456006" y="3233056"/>
            <a:ext cx="11154802" cy="1643744"/>
          </a:xfrm>
          <a:prstGeom prst="rect">
            <a:avLst/>
          </a:prstGeom>
        </p:spPr>
        <p:txBody>
          <a:bodyPr vert="horz" lIns="91440" tIns="45720" rIns="91440" bIns="45720" numCol="1" rtlCol="0" anchor="ctr">
            <a:normAutofit lnSpcReduction="1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1400" dirty="0">
                <a:latin typeface="Times New Roman" panose="02020603050405020304" pitchFamily="18" charset="0"/>
                <a:cs typeface="Times New Roman" panose="02020603050405020304" pitchFamily="18" charset="0"/>
              </a:rPr>
              <a:t>The HTM Classifier is used to</a:t>
            </a:r>
            <a:r>
              <a:rPr lang="en-US" sz="1400" dirty="0"/>
              <a:t>:</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Interpret patterns learned by the HTM Temporal Memory.</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Map Sparse Distributed Representations (SDRs) to class labels or numeric values.</a:t>
            </a:r>
          </a:p>
          <a:p>
            <a:pPr>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Make real-time predictions in streaming data environments.</a:t>
            </a:r>
          </a:p>
          <a:p>
            <a:pPr marL="0" indent="0" algn="just">
              <a:buNone/>
            </a:pPr>
            <a:r>
              <a:rPr lang="en-US" sz="1400" dirty="0"/>
              <a:t>                                            </a:t>
            </a:r>
          </a:p>
          <a:p>
            <a:pPr marL="0" indent="0">
              <a:buFont typeface="Wingdings 2" panose="05020102010507070707" pitchFamily="18" charset="2"/>
              <a:buNone/>
            </a:pPr>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32441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 Classifier Working Principle</a:t>
            </a:r>
            <a:endParaRPr lang="en-US" dirty="0"/>
          </a:p>
        </p:txBody>
      </p:sp>
      <p:sp>
        <p:nvSpPr>
          <p:cNvPr id="3" name="Content Placeholder 2"/>
          <p:cNvSpPr>
            <a:spLocks noGrp="1"/>
          </p:cNvSpPr>
          <p:nvPr>
            <p:ph idx="1"/>
          </p:nvPr>
        </p:nvSpPr>
        <p:spPr>
          <a:xfrm>
            <a:off x="440871" y="1953987"/>
            <a:ext cx="11348138" cy="4680016"/>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p>
          <a:p>
            <a:pPr marL="0" indent="0">
              <a:buNone/>
            </a:pPr>
            <a:endParaRPr lang="en-US" sz="1400" dirty="0">
              <a:latin typeface="Times New Roman" panose="02020603050405020304" pitchFamily="18" charset="0"/>
              <a:cs typeface="Times New Roman" panose="02020603050405020304" pitchFamily="18" charset="0"/>
            </a:endParaRP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Input Data → Encoder: Converts data into a binary Sparse Distributed Representation (SDR).</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SDR → Spatial Pooler: Learns stable, sparse representations of input.</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Spatial Output → Temporal Memory (TM): Learns sequences of patterns over time.</a:t>
            </a:r>
          </a:p>
          <a:p>
            <a:pPr algn="just">
              <a:buFont typeface="Wingdings" panose="05000000000000000000" pitchFamily="2" charset="2"/>
              <a:buChar char="§"/>
            </a:pPr>
            <a:r>
              <a:rPr lang="en-US" sz="1400" dirty="0">
                <a:latin typeface="Times New Roman" panose="02020603050405020304" pitchFamily="18" charset="0"/>
                <a:cs typeface="Times New Roman" panose="02020603050405020304" pitchFamily="18" charset="0"/>
              </a:rPr>
              <a:t>Active Cells → HTM Classifier: </a:t>
            </a:r>
          </a:p>
          <a:p>
            <a:pPr marL="0" indent="0" algn="just">
              <a:buNone/>
            </a:pPr>
            <a:r>
              <a:rPr lang="en-US" sz="1400" dirty="0">
                <a:latin typeface="Times New Roman" panose="02020603050405020304" pitchFamily="18" charset="0"/>
                <a:cs typeface="Times New Roman" panose="02020603050405020304" pitchFamily="18" charset="0"/>
              </a:rPr>
              <a:t>        • It observes which SDRs are associated with which outputs. </a:t>
            </a:r>
          </a:p>
          <a:p>
            <a:pPr marL="0" indent="0" algn="just">
              <a:buNone/>
            </a:pPr>
            <a:r>
              <a:rPr lang="en-US" sz="1400" dirty="0">
                <a:latin typeface="Times New Roman" panose="02020603050405020304" pitchFamily="18" charset="0"/>
                <a:cs typeface="Times New Roman" panose="02020603050405020304" pitchFamily="18" charset="0"/>
              </a:rPr>
              <a:t>        • It predicts the most likely class/number based on the current active SDR and learned history.                            </a:t>
            </a:r>
          </a:p>
          <a:p>
            <a:pPr marL="0" indent="0">
              <a:buNone/>
            </a:pPr>
            <a:r>
              <a:rPr lang="en-US" sz="1400" dirty="0">
                <a:latin typeface="Times New Roman" panose="02020603050405020304" pitchFamily="18" charset="0"/>
                <a:cs typeface="Times New Roman" panose="02020603050405020304" pitchFamily="18" charset="0"/>
              </a:rPr>
              <a:t>                                                                                                                                                                                              </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endParaRPr lang="en-US" sz="1400" dirty="0">
              <a:latin typeface="Times New Roman" panose="02020603050405020304" pitchFamily="18" charset="0"/>
              <a:cs typeface="Times New Roman" panose="02020603050405020304" pitchFamily="18" charset="0"/>
            </a:endParaRPr>
          </a:p>
        </p:txBody>
      </p:sp>
      <p:pic>
        <p:nvPicPr>
          <p:cNvPr id="5" name="Picture 4" descr="A diagram of a process&#10;&#10;AI-generated content may be incorrect.">
            <a:extLst>
              <a:ext uri="{FF2B5EF4-FFF2-40B4-BE49-F238E27FC236}">
                <a16:creationId xmlns:a16="http://schemas.microsoft.com/office/drawing/2014/main" id="{B38E362B-50A1-0EFC-E551-5710B6B11D2F}"/>
              </a:ext>
            </a:extLst>
          </p:cNvPr>
          <p:cNvPicPr>
            <a:picLocks noChangeAspect="1"/>
          </p:cNvPicPr>
          <p:nvPr/>
        </p:nvPicPr>
        <p:blipFill>
          <a:blip r:embed="rId2"/>
          <a:stretch>
            <a:fillRect/>
          </a:stretch>
        </p:blipFill>
        <p:spPr>
          <a:xfrm>
            <a:off x="7730288" y="3306603"/>
            <a:ext cx="3880520" cy="1596789"/>
          </a:xfrm>
          <a:prstGeom prst="rect">
            <a:avLst/>
          </a:prstGeom>
        </p:spPr>
      </p:pic>
      <p:sp>
        <p:nvSpPr>
          <p:cNvPr id="6" name="Content Placeholder 2">
            <a:extLst>
              <a:ext uri="{FF2B5EF4-FFF2-40B4-BE49-F238E27FC236}">
                <a16:creationId xmlns:a16="http://schemas.microsoft.com/office/drawing/2014/main" id="{E4C636FE-1B99-EEDB-EAC8-61A7D96ABF9D}"/>
              </a:ext>
            </a:extLst>
          </p:cNvPr>
          <p:cNvSpPr txBox="1">
            <a:spLocks/>
          </p:cNvSpPr>
          <p:nvPr/>
        </p:nvSpPr>
        <p:spPr>
          <a:xfrm>
            <a:off x="6822018"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endParaRPr lang="en-US" sz="1200" dirty="0">
              <a:latin typeface="Times New Roman" panose="02020603050405020304" pitchFamily="18" charset="0"/>
              <a:cs typeface="Times New Roman" panose="02020603050405020304" pitchFamily="18" charset="0"/>
            </a:endParaRPr>
          </a:p>
        </p:txBody>
      </p:sp>
      <p:sp>
        <p:nvSpPr>
          <p:cNvPr id="7" name="Content Placeholder 2">
            <a:extLst>
              <a:ext uri="{FF2B5EF4-FFF2-40B4-BE49-F238E27FC236}">
                <a16:creationId xmlns:a16="http://schemas.microsoft.com/office/drawing/2014/main" id="{C6DE842F-A7CA-9A3F-3A26-C0FBC297B27B}"/>
              </a:ext>
            </a:extLst>
          </p:cNvPr>
          <p:cNvSpPr txBox="1">
            <a:spLocks/>
          </p:cNvSpPr>
          <p:nvPr/>
        </p:nvSpPr>
        <p:spPr>
          <a:xfrm>
            <a:off x="6908136" y="504714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GB" sz="1200" dirty="0">
                <a:latin typeface="Times New Roman" panose="02020603050405020304" pitchFamily="18" charset="0"/>
                <a:cs typeface="Times New Roman" panose="02020603050405020304" pitchFamily="18" charset="0"/>
              </a:rPr>
              <a:t>F</a:t>
            </a:r>
            <a:r>
              <a:rPr lang="en-US" sz="1200" dirty="0" err="1">
                <a:latin typeface="Times New Roman" panose="02020603050405020304" pitchFamily="18" charset="0"/>
                <a:cs typeface="Times New Roman" panose="02020603050405020304" pitchFamily="18" charset="0"/>
              </a:rPr>
              <a:t>ig</a:t>
            </a:r>
            <a:r>
              <a:rPr lang="en-US" sz="1200" dirty="0">
                <a:latin typeface="Times New Roman" panose="02020603050405020304" pitchFamily="18" charset="0"/>
                <a:cs typeface="Times New Roman" panose="02020603050405020304" pitchFamily="18" charset="0"/>
              </a:rPr>
              <a:t>. HTM Workflow Diagram</a:t>
            </a:r>
          </a:p>
        </p:txBody>
      </p:sp>
    </p:spTree>
    <p:extLst>
      <p:ext uri="{BB962C8B-B14F-4D97-AF65-F5344CB8AC3E}">
        <p14:creationId xmlns:p14="http://schemas.microsoft.com/office/powerpoint/2010/main" val="3907664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HTM and KNN 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HTM &amp; KNN 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HTM &amp; KNN 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HTM &amp; KNN 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a:latin typeface="Times New Roman" panose="02020603050405020304" pitchFamily="18" charset="0"/>
                <a:cs typeface="Times New Roman" panose="02020603050405020304" pitchFamily="18" charset="0"/>
              </a:rPr>
              <a:t>A comprehensive framework for sequence learning and classification incorporates input images, binarization,  encoder, Spatial Pooler, Hierarchical Temporal Memory (HTM) , and K-nearest neighbor (KNN) classifier. </a:t>
            </a:r>
            <a:endParaRPr lang="en-US" sz="14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3170223" y="620098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HTM and KNN classifiers integration with Neocortex API</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2665" y="2839301"/>
            <a:ext cx="8005260" cy="3408462"/>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HTM &amp; KNN 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HTM &amp; KNN 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225228" y="617775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5521" y="1715956"/>
            <a:ext cx="2674974" cy="4786683"/>
          </a:xfrm>
          <a:prstGeom prst="rect">
            <a:avLst/>
          </a:prstGeom>
        </p:spPr>
      </p:pic>
    </p:spTree>
    <p:extLst>
      <p:ext uri="{BB962C8B-B14F-4D97-AF65-F5344CB8AC3E}">
        <p14:creationId xmlns:p14="http://schemas.microsoft.com/office/powerpoint/2010/main" val="3274600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HTM</a:t>
            </a:r>
            <a:r>
              <a:rPr lang="en-US" dirty="0"/>
              <a:t> </a:t>
            </a:r>
            <a:r>
              <a:rPr lang="en-US" cap="none" dirty="0"/>
              <a:t>classifier</a:t>
            </a:r>
            <a:r>
              <a:rPr lang="en-US" dirty="0"/>
              <a:t> </a:t>
            </a:r>
            <a:r>
              <a:rPr lang="en-US" cap="none" dirty="0"/>
              <a:t>with Spatial Pooler generated SDRs</a:t>
            </a:r>
          </a:p>
        </p:txBody>
      </p:sp>
      <p:sp>
        <p:nvSpPr>
          <p:cNvPr id="5" name="Rectangle 4"/>
          <p:cNvSpPr/>
          <p:nvPr/>
        </p:nvSpPr>
        <p:spPr>
          <a:xfrm>
            <a:off x="6765487" y="6187342"/>
            <a:ext cx="6096000" cy="276999"/>
          </a:xfrm>
          <a:prstGeom prst="rect">
            <a:avLst/>
          </a:prstGeom>
        </p:spPr>
        <p:txBody>
          <a:bodyPr>
            <a:spAutoFit/>
          </a:bodyPr>
          <a:lstStyle/>
          <a:p>
            <a:pPr algn="ctr"/>
            <a:r>
              <a:rPr lang="en-US" sz="1200" dirty="0">
                <a:latin typeface="Times New Roman" panose="02020603050405020304" pitchFamily="18" charset="0"/>
                <a:ea typeface="宋体" panose="02010600030101010101" pitchFamily="2" charset="-122"/>
              </a:rPr>
              <a:t>Process diagram for HTM classification with SP generated SDRs</a:t>
            </a:r>
            <a:endParaRPr lang="en-US" sz="1200" dirty="0"/>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36960" y="1715957"/>
            <a:ext cx="2498773" cy="4471385"/>
          </a:xfrm>
        </p:spPr>
      </p:pic>
      <p:sp>
        <p:nvSpPr>
          <p:cNvPr id="3" name="Content Placeholder 2">
            <a:extLst>
              <a:ext uri="{FF2B5EF4-FFF2-40B4-BE49-F238E27FC236}">
                <a16:creationId xmlns:a16="http://schemas.microsoft.com/office/drawing/2014/main" id="{B98B0A29-FC10-4C74-230D-A002A3FE76C5}"/>
              </a:ext>
            </a:extLst>
          </p:cNvPr>
          <p:cNvSpPr txBox="1">
            <a:spLocks/>
          </p:cNvSpPr>
          <p:nvPr/>
        </p:nvSpPr>
        <p:spPr>
          <a:xfrm>
            <a:off x="581192" y="1990725"/>
            <a:ext cx="6984379" cy="4366532"/>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From the HTM-based classification experiment, a dataset of Sparse Distributed Representations (SDRs) was generated using the Spatial Pooler, capturing the essential patterns of input data. This SDR dataset was divided into 80% for training and 20% for testing.</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During evaluation, the classifier was tested on the 20% held-out test set. The classifier used its learned temporal memory to match the new input SDRs with known patterns and generate predictions based on past sequence context.</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rPr>
              <a:t>The evaluation revealed that the HTM Classifier achieved a prediction accuracy of approximately 89%, showcasing its strong capability to generalize across unseen data. This level of accuracy reflects the classifier’s robustness in handling temporal patterns and sparse inputs, even with relatively limited training data.</a:t>
            </a:r>
          </a:p>
          <a:p>
            <a:pPr marL="0" indent="0">
              <a:buNone/>
            </a:pPr>
            <a:r>
              <a:rPr lang="en-US" sz="1200" dirty="0">
                <a:latin typeface="Times New Roman" panose="02020603050405020304" pitchFamily="18" charset="0"/>
                <a:ea typeface="宋体" panose="02010600030101010101" pitchFamily="2" charset="-122"/>
              </a:rPr>
              <a:t>Overall, the experiment highlights the HTM Classifier’s strength in temporal pattern recognition, making it highly suitable for applications involving streaming or time-series data.</a:t>
            </a:r>
          </a:p>
          <a:p>
            <a:pPr algn="just">
              <a:buFont typeface="Courier New" panose="02070309020205020404" pitchFamily="49" charset="0"/>
              <a:buChar char="o"/>
            </a:pPr>
            <a:endParaRPr lang="en-US" sz="1200"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7722135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HTM &amp; KNN 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2D3C2F-55A5-48C0-9D5A-95C7FF0389D0}">
  <ds:schemaRefs>
    <ds:schemaRef ds:uri="http://schemas.microsoft.com/sharepoint/v3/contenttype/forms"/>
  </ds:schemaRefs>
</ds:datastoreItem>
</file>

<file path=customXml/itemProps2.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Tech design</Template>
  <TotalTime>4857</TotalTime>
  <Words>1739</Words>
  <Application>Microsoft Office PowerPoint</Application>
  <PresentationFormat>Widescreen</PresentationFormat>
  <Paragraphs>124</Paragraphs>
  <Slides>19</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19</vt:i4>
      </vt:variant>
    </vt:vector>
  </HeadingPairs>
  <TitlesOfParts>
    <vt:vector size="30" baseType="lpstr">
      <vt:lpstr>Adobe Fan Heiti Std B</vt:lpstr>
      <vt:lpstr>Adobe Heiti Std R</vt:lpstr>
      <vt:lpstr>Arial</vt:lpstr>
      <vt:lpstr>Calibri</vt:lpstr>
      <vt:lpstr>Cambria Math</vt:lpstr>
      <vt:lpstr>Courier New</vt:lpstr>
      <vt:lpstr>Gill Sans MT</vt:lpstr>
      <vt:lpstr>Times New Roman</vt:lpstr>
      <vt:lpstr>Wingdings</vt:lpstr>
      <vt:lpstr>Wingdings 2</vt:lpstr>
      <vt:lpstr>Custom</vt:lpstr>
      <vt:lpstr>Title: Investigate Image Reconstruction by Using Classifiers</vt:lpstr>
      <vt:lpstr>Table of Content:</vt:lpstr>
      <vt:lpstr>Introduction</vt:lpstr>
      <vt:lpstr>Objectives</vt:lpstr>
      <vt:lpstr>Introduction to HTM Classifier</vt:lpstr>
      <vt:lpstr>Introduction to KNN Classifier</vt:lpstr>
      <vt:lpstr>HTM Classifier Working Principle</vt:lpstr>
      <vt:lpstr>Important Parameters in KNN Classifier</vt:lpstr>
      <vt:lpstr>KNN Classifier Working Principle</vt:lpstr>
      <vt:lpstr>Results and Unit Test for Native HTM and KNN Classifier</vt:lpstr>
      <vt:lpstr>Integration of HTM &amp; KNN with Neocortex API</vt:lpstr>
      <vt:lpstr>Results and Unit Test for HTM &amp; KNN integrated with Neocortex API</vt:lpstr>
      <vt:lpstr>KNN classifier with Spatial Pooler generated SDRs</vt:lpstr>
      <vt:lpstr>HTM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Shanto, Md Arif Hasan</cp:lastModifiedBy>
  <cp:revision>49</cp:revision>
  <dcterms:created xsi:type="dcterms:W3CDTF">2024-03-30T14:12:02Z</dcterms:created>
  <dcterms:modified xsi:type="dcterms:W3CDTF">2025-03-28T11:38:29Z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